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Montserrat Bold" panose="020B0604020202020204" charset="0"/>
      <p:regular r:id="rId21"/>
    </p:embeddedFont>
    <p:embeddedFont>
      <p:font typeface="Poppins Italics" panose="020B0604020202020204" charset="0"/>
      <p:regular r:id="rId22"/>
    </p:embeddedFont>
    <p:embeddedFont>
      <p:font typeface="Times New Roman MT Condensed" panose="020B0604020202020204" charset="0"/>
      <p:regular r:id="rId23"/>
    </p:embeddedFont>
    <p:embeddedFont>
      <p:font typeface="Times New Roman MT Condensed Bold" panose="020B0604020202020204" charset="0"/>
      <p:regular r:id="rId24"/>
    </p:embeddedFont>
    <p:embeddedFont>
      <p:font typeface="Times New Roman MT Condense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3692" y="732101"/>
            <a:ext cx="16800616" cy="8822798"/>
            <a:chOff x="0" y="0"/>
            <a:chExt cx="4424853" cy="2323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24854" cy="2323700"/>
            </a:xfrm>
            <a:custGeom>
              <a:avLst/>
              <a:gdLst/>
              <a:ahLst/>
              <a:cxnLst/>
              <a:rect l="l" t="t" r="r" b="b"/>
              <a:pathLst>
                <a:path w="4424854" h="2323700">
                  <a:moveTo>
                    <a:pt x="10138" y="0"/>
                  </a:moveTo>
                  <a:lnTo>
                    <a:pt x="4414716" y="0"/>
                  </a:lnTo>
                  <a:cubicBezTo>
                    <a:pt x="4417404" y="0"/>
                    <a:pt x="4419983" y="1068"/>
                    <a:pt x="4421884" y="2969"/>
                  </a:cubicBezTo>
                  <a:cubicBezTo>
                    <a:pt x="4423785" y="4871"/>
                    <a:pt x="4424854" y="7449"/>
                    <a:pt x="4424854" y="10138"/>
                  </a:cubicBezTo>
                  <a:lnTo>
                    <a:pt x="4424854" y="2313562"/>
                  </a:lnTo>
                  <a:cubicBezTo>
                    <a:pt x="4424854" y="2316251"/>
                    <a:pt x="4423785" y="2318830"/>
                    <a:pt x="4421884" y="2320731"/>
                  </a:cubicBezTo>
                  <a:cubicBezTo>
                    <a:pt x="4419983" y="2322632"/>
                    <a:pt x="4417404" y="2323700"/>
                    <a:pt x="4414716" y="2323700"/>
                  </a:cubicBezTo>
                  <a:lnTo>
                    <a:pt x="10138" y="2323700"/>
                  </a:lnTo>
                  <a:cubicBezTo>
                    <a:pt x="7449" y="2323700"/>
                    <a:pt x="4871" y="2322632"/>
                    <a:pt x="2969" y="2320731"/>
                  </a:cubicBezTo>
                  <a:cubicBezTo>
                    <a:pt x="1068" y="2318830"/>
                    <a:pt x="0" y="2316251"/>
                    <a:pt x="0" y="2313562"/>
                  </a:cubicBezTo>
                  <a:lnTo>
                    <a:pt x="0" y="10138"/>
                  </a:lnTo>
                  <a:cubicBezTo>
                    <a:pt x="0" y="7449"/>
                    <a:pt x="1068" y="4871"/>
                    <a:pt x="2969" y="2969"/>
                  </a:cubicBezTo>
                  <a:cubicBezTo>
                    <a:pt x="4871" y="1068"/>
                    <a:pt x="7449" y="0"/>
                    <a:pt x="1013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424853" cy="233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318184" y="8451520"/>
            <a:ext cx="586344" cy="58634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16456976" y="8590313"/>
            <a:ext cx="308758" cy="308758"/>
          </a:xfrm>
          <a:custGeom>
            <a:avLst/>
            <a:gdLst/>
            <a:ahLst/>
            <a:cxnLst/>
            <a:rect l="l" t="t" r="r" b="b"/>
            <a:pathLst>
              <a:path w="308758" h="308758">
                <a:moveTo>
                  <a:pt x="0" y="0"/>
                </a:moveTo>
                <a:lnTo>
                  <a:pt x="308759" y="0"/>
                </a:lnTo>
                <a:lnTo>
                  <a:pt x="308759" y="308758"/>
                </a:lnTo>
                <a:lnTo>
                  <a:pt x="0" y="3087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63176" y="2413000"/>
            <a:ext cx="10761648" cy="273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Yapay Zeka Tabanlı ,Tarımda Karar Destek Sistemi</a:t>
            </a:r>
          </a:p>
          <a:p>
            <a:pPr algn="ctr">
              <a:lnSpc>
                <a:spcPts val="7000"/>
              </a:lnSpc>
            </a:pPr>
            <a:endParaRPr lang="en-US" sz="500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05708" y="4546367"/>
            <a:ext cx="9876579" cy="597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2"/>
              </a:lnSpc>
              <a:spcBef>
                <a:spcPct val="0"/>
              </a:spcBef>
            </a:pPr>
            <a:r>
              <a:rPr lang="en-US" sz="3115" spc="-171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Makine Öğrenmesi Pipeline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12" name="AutoShape 12"/>
          <p:cNvSpPr/>
          <p:nvPr/>
        </p:nvSpPr>
        <p:spPr>
          <a:xfrm flipV="1">
            <a:off x="3909882" y="4426930"/>
            <a:ext cx="10172402" cy="530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7230707"/>
            <a:ext cx="5009674" cy="261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Öğrenci Adı- Soyadı: Cennet Cansu DEGER</a:t>
            </a:r>
          </a:p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Numarası:23100011023</a:t>
            </a:r>
          </a:p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Bölüm: Bilgisayar Mühendisliği</a:t>
            </a:r>
          </a:p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Danışman: Dr. Öğr. Üyesi Ayşe Merve ACILAR</a:t>
            </a:r>
          </a:p>
          <a:p>
            <a:pPr algn="l">
              <a:lnSpc>
                <a:spcPts val="3422"/>
              </a:lnSpc>
            </a:pPr>
            <a:endParaRPr lang="en-US" sz="24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l">
              <a:lnSpc>
                <a:spcPts val="3422"/>
              </a:lnSpc>
              <a:spcBef>
                <a:spcPct val="0"/>
              </a:spcBef>
            </a:pPr>
            <a:endParaRPr lang="en-US" sz="24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215760" y="5639522"/>
            <a:ext cx="1856475" cy="1850339"/>
          </a:xfrm>
          <a:custGeom>
            <a:avLst/>
            <a:gdLst/>
            <a:ahLst/>
            <a:cxnLst/>
            <a:rect l="l" t="t" r="r" b="b"/>
            <a:pathLst>
              <a:path w="1856475" h="1850339">
                <a:moveTo>
                  <a:pt x="0" y="0"/>
                </a:moveTo>
                <a:lnTo>
                  <a:pt x="1856475" y="0"/>
                </a:lnTo>
                <a:lnTo>
                  <a:pt x="1856475" y="1850339"/>
                </a:lnTo>
                <a:lnTo>
                  <a:pt x="0" y="185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" t="-192" b="-19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746926" y="2681411"/>
            <a:ext cx="3012329" cy="115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4"/>
              </a:lnSpc>
            </a:pPr>
            <a:r>
              <a:rPr lang="en-US" sz="61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İçindekiler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0164" y="8430895"/>
            <a:ext cx="4930581" cy="840604"/>
            <a:chOff x="0" y="0"/>
            <a:chExt cx="6574108" cy="112080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20805" cy="1120805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5</a:t>
                </a: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62105" y="199115"/>
              <a:ext cx="5212003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Kullanılan Modeller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23477" y="4101753"/>
            <a:ext cx="6770350" cy="3991416"/>
            <a:chOff x="0" y="0"/>
            <a:chExt cx="9027134" cy="532188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20805" cy="1120805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6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1336705"/>
              <a:ext cx="1120805" cy="1120805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7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74805" y="217631"/>
              <a:ext cx="6294199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Optuna Optimizasyonu Ve Eğitim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74805" y="1551747"/>
              <a:ext cx="5395947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Model Değerlendirme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2738834"/>
              <a:ext cx="1120805" cy="112080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8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374805" y="2970446"/>
              <a:ext cx="7652329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Feature Selection ve Model Karşılaştırması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4201083"/>
              <a:ext cx="1120805" cy="1120805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8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374805" y="4432695"/>
              <a:ext cx="7652329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Final Model Eğitimi ve Kaydetme</a:t>
              </a:r>
            </a:p>
          </p:txBody>
        </p:sp>
      </p:grpSp>
      <p:sp>
        <p:nvSpPr>
          <p:cNvPr id="26" name="Freeform 26"/>
          <p:cNvSpPr/>
          <p:nvPr/>
        </p:nvSpPr>
        <p:spPr>
          <a:xfrm flipH="1">
            <a:off x="17259300" y="9258300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415636" y="0"/>
                </a:moveTo>
                <a:lnTo>
                  <a:pt x="0" y="0"/>
                </a:lnTo>
                <a:lnTo>
                  <a:pt x="0" y="415636"/>
                </a:lnTo>
                <a:lnTo>
                  <a:pt x="415636" y="415636"/>
                </a:lnTo>
                <a:lnTo>
                  <a:pt x="4156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600164" y="4101753"/>
            <a:ext cx="5064466" cy="3852042"/>
            <a:chOff x="0" y="0"/>
            <a:chExt cx="6752621" cy="5136055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120805" cy="1120805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1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1338417"/>
              <a:ext cx="1120805" cy="112080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2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2676834"/>
              <a:ext cx="1120805" cy="112080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3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4015250"/>
              <a:ext cx="1120805" cy="1120805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>
                    <a:alpha val="72941"/>
                  </a:srgbClr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69"/>
                  </a:lnSpc>
                </a:pPr>
                <a:r>
                  <a:rPr lang="en-US" sz="2899" b="1">
                    <a:solidFill>
                      <a:srgbClr val="000000">
                        <a:alpha val="72941"/>
                      </a:srgbClr>
                    </a:solidFill>
                    <a:latin typeface="Times New Roman MT Condensed Bold"/>
                    <a:ea typeface="Times New Roman MT Condensed Bold"/>
                    <a:cs typeface="Times New Roman MT Condensed Bold"/>
                    <a:sym typeface="Times New Roman MT Condensed Bold"/>
                  </a:rPr>
                  <a:t>4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356675" y="231612"/>
              <a:ext cx="5212003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Araştırma Problemi 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56675" y="4257420"/>
              <a:ext cx="5395947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Feature Engineering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56675" y="1570029"/>
              <a:ext cx="5395947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Pipeline Genel Akış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56675" y="2908446"/>
              <a:ext cx="5395947" cy="56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6"/>
                </a:lnSpc>
                <a:spcBef>
                  <a:spcPct val="0"/>
                </a:spcBef>
              </a:pPr>
              <a:r>
                <a:rPr lang="en-US" sz="2333" spc="158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Veri Analizi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9126830" y="2103420"/>
            <a:ext cx="17170" cy="593777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409957" y="3442190"/>
            <a:ext cx="673938" cy="675165"/>
          </a:xfrm>
          <a:custGeom>
            <a:avLst/>
            <a:gdLst/>
            <a:ahLst/>
            <a:cxnLst/>
            <a:rect l="l" t="t" r="r" b="b"/>
            <a:pathLst>
              <a:path w="673938" h="675165">
                <a:moveTo>
                  <a:pt x="0" y="0"/>
                </a:moveTo>
                <a:lnTo>
                  <a:pt x="673938" y="0"/>
                </a:lnTo>
                <a:lnTo>
                  <a:pt x="673938" y="675165"/>
                </a:lnTo>
                <a:lnTo>
                  <a:pt x="0" y="675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60038" y="3146299"/>
            <a:ext cx="5358503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Araştırma Problemi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9957" y="4387822"/>
            <a:ext cx="7499510" cy="472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944" lvl="1" indent="-290472" algn="just">
              <a:lnSpc>
                <a:spcPts val="3767"/>
              </a:lnSpc>
              <a:buFont typeface="Arial"/>
              <a:buChar char="•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Tarımda verim tahmini:</a:t>
            </a:r>
          </a:p>
          <a:p>
            <a:pPr marL="1161888" lvl="2" indent="-387296" algn="just">
              <a:lnSpc>
                <a:spcPts val="3767"/>
              </a:lnSpc>
              <a:buFont typeface="Arial"/>
              <a:buChar char="⚬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Lojistik-Depolama açısından planlama</a:t>
            </a:r>
          </a:p>
          <a:p>
            <a:pPr marL="1161888" lvl="2" indent="-387296" algn="just">
              <a:lnSpc>
                <a:spcPts val="3767"/>
              </a:lnSpc>
              <a:buFont typeface="Arial"/>
              <a:buChar char="⚬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maliyet yönetimi</a:t>
            </a:r>
          </a:p>
          <a:p>
            <a:pPr marL="1161888" lvl="2" indent="-387296" algn="just">
              <a:lnSpc>
                <a:spcPts val="3767"/>
              </a:lnSpc>
              <a:buFont typeface="Arial"/>
              <a:buChar char="⚬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risk analizi için kritik</a:t>
            </a:r>
          </a:p>
          <a:p>
            <a:pPr algn="just">
              <a:lnSpc>
                <a:spcPts val="3767"/>
              </a:lnSpc>
            </a:pPr>
            <a:endParaRPr lang="en-US" sz="269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marL="580944" lvl="1" indent="-290472" algn="l">
              <a:lnSpc>
                <a:spcPts val="3767"/>
              </a:lnSpc>
              <a:buFont typeface="Arial"/>
              <a:buChar char="•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Geleneksel yöntemler:</a:t>
            </a:r>
          </a:p>
          <a:p>
            <a:pPr marL="1161888" lvl="2" indent="-387296" algn="just">
              <a:lnSpc>
                <a:spcPts val="3767"/>
              </a:lnSpc>
              <a:buFont typeface="Arial"/>
              <a:buChar char="⚬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düşük doğruluk</a:t>
            </a:r>
          </a:p>
          <a:p>
            <a:pPr marL="1161888" lvl="2" indent="-387296" algn="just">
              <a:lnSpc>
                <a:spcPts val="3767"/>
              </a:lnSpc>
              <a:buFont typeface="Arial"/>
              <a:buChar char="⚬"/>
            </a:pPr>
            <a:r>
              <a:rPr lang="en-US" sz="269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insan hatası</a:t>
            </a:r>
          </a:p>
          <a:p>
            <a:pPr algn="just">
              <a:lnSpc>
                <a:spcPts val="3767"/>
              </a:lnSpc>
            </a:pPr>
            <a:endParaRPr lang="en-US" sz="269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767"/>
              </a:lnSpc>
              <a:spcBef>
                <a:spcPct val="0"/>
              </a:spcBef>
            </a:pPr>
            <a:endParaRPr lang="en-US" sz="269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77512" y="2536761"/>
            <a:ext cx="5454057" cy="104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8"/>
              </a:lnSpc>
            </a:pPr>
            <a:r>
              <a:rPr lang="en-US" sz="5498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Amaçlar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056413" y="3780545"/>
            <a:ext cx="6765966" cy="1196032"/>
            <a:chOff x="0" y="0"/>
            <a:chExt cx="1781983" cy="3150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1983" cy="315004"/>
            </a:xfrm>
            <a:custGeom>
              <a:avLst/>
              <a:gdLst/>
              <a:ahLst/>
              <a:cxnLst/>
              <a:rect l="l" t="t" r="r" b="b"/>
              <a:pathLst>
                <a:path w="1781983" h="315004">
                  <a:moveTo>
                    <a:pt x="25173" y="0"/>
                  </a:moveTo>
                  <a:lnTo>
                    <a:pt x="1756809" y="0"/>
                  </a:lnTo>
                  <a:cubicBezTo>
                    <a:pt x="1770712" y="0"/>
                    <a:pt x="1781983" y="11271"/>
                    <a:pt x="1781983" y="25173"/>
                  </a:cubicBezTo>
                  <a:lnTo>
                    <a:pt x="1781983" y="289831"/>
                  </a:lnTo>
                  <a:cubicBezTo>
                    <a:pt x="1781983" y="303734"/>
                    <a:pt x="1770712" y="315004"/>
                    <a:pt x="1756809" y="315004"/>
                  </a:cubicBezTo>
                  <a:lnTo>
                    <a:pt x="25173" y="315004"/>
                  </a:lnTo>
                  <a:cubicBezTo>
                    <a:pt x="11271" y="315004"/>
                    <a:pt x="0" y="303734"/>
                    <a:pt x="0" y="289831"/>
                  </a:cubicBezTo>
                  <a:lnTo>
                    <a:pt x="0" y="25173"/>
                  </a:lnTo>
                  <a:cubicBezTo>
                    <a:pt x="0" y="11271"/>
                    <a:pt x="11271" y="0"/>
                    <a:pt x="2517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81983" cy="324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56413" y="5353649"/>
            <a:ext cx="6765966" cy="1234466"/>
            <a:chOff x="0" y="0"/>
            <a:chExt cx="1781983" cy="3251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81983" cy="325127"/>
            </a:xfrm>
            <a:custGeom>
              <a:avLst/>
              <a:gdLst/>
              <a:ahLst/>
              <a:cxnLst/>
              <a:rect l="l" t="t" r="r" b="b"/>
              <a:pathLst>
                <a:path w="1781983" h="325127">
                  <a:moveTo>
                    <a:pt x="25173" y="0"/>
                  </a:moveTo>
                  <a:lnTo>
                    <a:pt x="1756809" y="0"/>
                  </a:lnTo>
                  <a:cubicBezTo>
                    <a:pt x="1770712" y="0"/>
                    <a:pt x="1781983" y="11271"/>
                    <a:pt x="1781983" y="25173"/>
                  </a:cubicBezTo>
                  <a:lnTo>
                    <a:pt x="1781983" y="299953"/>
                  </a:lnTo>
                  <a:cubicBezTo>
                    <a:pt x="1781983" y="313856"/>
                    <a:pt x="1770712" y="325127"/>
                    <a:pt x="1756809" y="325127"/>
                  </a:cubicBezTo>
                  <a:lnTo>
                    <a:pt x="25173" y="325127"/>
                  </a:lnTo>
                  <a:cubicBezTo>
                    <a:pt x="11271" y="325127"/>
                    <a:pt x="0" y="313856"/>
                    <a:pt x="0" y="299953"/>
                  </a:cubicBezTo>
                  <a:lnTo>
                    <a:pt x="0" y="25173"/>
                  </a:lnTo>
                  <a:cubicBezTo>
                    <a:pt x="0" y="11271"/>
                    <a:pt x="11271" y="0"/>
                    <a:pt x="2517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781983" cy="334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22926" y="3978239"/>
            <a:ext cx="6976913" cy="114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ML modeli ile: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tahmin, öngörü analizi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46194" y="5701733"/>
            <a:ext cx="6092006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Mobil uygulamada kullanılacak en doğru modeli seçmek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717571" y="4079519"/>
            <a:ext cx="677684" cy="67768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968366" y="4061134"/>
            <a:ext cx="231435" cy="66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490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17571" y="5672493"/>
            <a:ext cx="677684" cy="67768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968366" y="5654108"/>
            <a:ext cx="231435" cy="66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490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056413" y="6816715"/>
            <a:ext cx="6765966" cy="1234466"/>
            <a:chOff x="0" y="0"/>
            <a:chExt cx="1781983" cy="3251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81983" cy="325127"/>
            </a:xfrm>
            <a:custGeom>
              <a:avLst/>
              <a:gdLst/>
              <a:ahLst/>
              <a:cxnLst/>
              <a:rect l="l" t="t" r="r" b="b"/>
              <a:pathLst>
                <a:path w="1781983" h="325127">
                  <a:moveTo>
                    <a:pt x="25173" y="0"/>
                  </a:moveTo>
                  <a:lnTo>
                    <a:pt x="1756809" y="0"/>
                  </a:lnTo>
                  <a:cubicBezTo>
                    <a:pt x="1770712" y="0"/>
                    <a:pt x="1781983" y="11271"/>
                    <a:pt x="1781983" y="25173"/>
                  </a:cubicBezTo>
                  <a:lnTo>
                    <a:pt x="1781983" y="299953"/>
                  </a:lnTo>
                  <a:cubicBezTo>
                    <a:pt x="1781983" y="313856"/>
                    <a:pt x="1770712" y="325127"/>
                    <a:pt x="1756809" y="325127"/>
                  </a:cubicBezTo>
                  <a:lnTo>
                    <a:pt x="25173" y="325127"/>
                  </a:lnTo>
                  <a:cubicBezTo>
                    <a:pt x="11271" y="325127"/>
                    <a:pt x="0" y="313856"/>
                    <a:pt x="0" y="299953"/>
                  </a:cubicBezTo>
                  <a:lnTo>
                    <a:pt x="0" y="25173"/>
                  </a:lnTo>
                  <a:cubicBezTo>
                    <a:pt x="0" y="11271"/>
                    <a:pt x="11271" y="0"/>
                    <a:pt x="2517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781983" cy="334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541419" y="6980285"/>
            <a:ext cx="6196781" cy="7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8"/>
              </a:lnSpc>
              <a:spcBef>
                <a:spcPct val="0"/>
              </a:spcBef>
            </a:pPr>
            <a:r>
              <a:rPr lang="en-US" sz="2056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Tonaj tahmini yapan  ayni anda hava durumu bilgisi sunup oneride bulanan bir karar destek simulasyonu mobil uygulamasi geliştirmek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745242" y="7095106"/>
            <a:ext cx="677684" cy="67768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996038" y="7076720"/>
            <a:ext cx="231435" cy="66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490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3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139290" y="8373630"/>
            <a:ext cx="8071045" cy="1472581"/>
            <a:chOff x="0" y="0"/>
            <a:chExt cx="10761393" cy="1963441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0761393" cy="1963441"/>
              <a:chOff x="0" y="0"/>
              <a:chExt cx="1781983" cy="32512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781983" cy="325127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25127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99953"/>
                    </a:lnTo>
                    <a:cubicBezTo>
                      <a:pt x="1781983" y="313856"/>
                      <a:pt x="1770712" y="325127"/>
                      <a:pt x="1756809" y="325127"/>
                    </a:cubicBezTo>
                    <a:lnTo>
                      <a:pt x="25173" y="325127"/>
                    </a:lnTo>
                    <a:cubicBezTo>
                      <a:pt x="11271" y="325127"/>
                      <a:pt x="0" y="313856"/>
                      <a:pt x="0" y="299953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9525"/>
                <a:ext cx="1781983" cy="3346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71412" y="291733"/>
              <a:ext cx="9856093" cy="1178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34"/>
                </a:lnSpc>
                <a:spcBef>
                  <a:spcPct val="0"/>
                </a:spcBef>
              </a:pPr>
              <a:r>
                <a:rPr lang="en-US" sz="2453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Bu çalışma, gerçek saha verisi ile doğrulanması planlanan bir model geliştirme ve karar destek sistemi altyapısı sunmaktadır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H="1">
            <a:off x="1154971" y="2517146"/>
            <a:ext cx="889978" cy="626221"/>
          </a:xfrm>
          <a:custGeom>
            <a:avLst/>
            <a:gdLst/>
            <a:ahLst/>
            <a:cxnLst/>
            <a:rect l="l" t="t" r="r" b="b"/>
            <a:pathLst>
              <a:path w="889978" h="626221">
                <a:moveTo>
                  <a:pt x="889978" y="0"/>
                </a:moveTo>
                <a:lnTo>
                  <a:pt x="0" y="0"/>
                </a:lnTo>
                <a:lnTo>
                  <a:pt x="0" y="626220"/>
                </a:lnTo>
                <a:lnTo>
                  <a:pt x="889978" y="626220"/>
                </a:lnTo>
                <a:lnTo>
                  <a:pt x="8899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6436432" y="8737649"/>
            <a:ext cx="822868" cy="520651"/>
          </a:xfrm>
          <a:custGeom>
            <a:avLst/>
            <a:gdLst/>
            <a:ahLst/>
            <a:cxnLst/>
            <a:rect l="l" t="t" r="r" b="b"/>
            <a:pathLst>
              <a:path w="822868" h="520651">
                <a:moveTo>
                  <a:pt x="0" y="520651"/>
                </a:moveTo>
                <a:lnTo>
                  <a:pt x="822868" y="520651"/>
                </a:lnTo>
                <a:lnTo>
                  <a:pt x="822868" y="0"/>
                </a:lnTo>
                <a:lnTo>
                  <a:pt x="0" y="0"/>
                </a:lnTo>
                <a:lnTo>
                  <a:pt x="0" y="52065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32626" y="2298071"/>
            <a:ext cx="4923616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Pipeline Genel Akış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4475" y="4346443"/>
            <a:ext cx="16199050" cy="4651532"/>
            <a:chOff x="0" y="0"/>
            <a:chExt cx="21598734" cy="620204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756191"/>
              <a:ext cx="3201217" cy="2148357"/>
              <a:chOff x="0" y="0"/>
              <a:chExt cx="576378" cy="38681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VERI ANALIZI (EDA)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 flipH="1">
              <a:off x="3519955" y="1817670"/>
              <a:ext cx="985593" cy="635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82038" y="16036"/>
              <a:ext cx="618571" cy="61857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210957" y="25722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1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201217" y="4040985"/>
              <a:ext cx="3201217" cy="2148357"/>
              <a:chOff x="0" y="0"/>
              <a:chExt cx="576378" cy="3868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EXPLAINABILITY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5946037" y="4040985"/>
              <a:ext cx="3201217" cy="2148357"/>
              <a:chOff x="0" y="0"/>
              <a:chExt cx="576378" cy="3868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FINAL MODEL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777720" y="4053685"/>
              <a:ext cx="3201217" cy="2148357"/>
              <a:chOff x="0" y="0"/>
              <a:chExt cx="576378" cy="3868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FEATURE SELECTION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737591" y="756191"/>
              <a:ext cx="3201217" cy="2216646"/>
              <a:chOff x="0" y="0"/>
              <a:chExt cx="576378" cy="39910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76378" cy="399106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99106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28166"/>
                    </a:lnTo>
                    <a:cubicBezTo>
                      <a:pt x="576378" y="346980"/>
                      <a:pt x="568904" y="365024"/>
                      <a:pt x="555600" y="378328"/>
                    </a:cubicBezTo>
                    <a:cubicBezTo>
                      <a:pt x="542296" y="391632"/>
                      <a:pt x="524252" y="399106"/>
                      <a:pt x="505438" y="399106"/>
                    </a:cubicBezTo>
                    <a:lnTo>
                      <a:pt x="70941" y="399106"/>
                    </a:lnTo>
                    <a:cubicBezTo>
                      <a:pt x="52126" y="399106"/>
                      <a:pt x="34082" y="391632"/>
                      <a:pt x="20778" y="378328"/>
                    </a:cubicBezTo>
                    <a:cubicBezTo>
                      <a:pt x="7474" y="365024"/>
                      <a:pt x="0" y="346980"/>
                      <a:pt x="0" y="328166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9525"/>
                <a:ext cx="576378" cy="4086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FEATURE ENGINEERING</a:t>
                </a:r>
              </a:p>
              <a:p>
                <a:pPr algn="ctr">
                  <a:lnSpc>
                    <a:spcPts val="2345"/>
                  </a:lnSpc>
                </a:pPr>
                <a:endParaRPr lang="en-US" sz="1938" b="1" spc="186">
                  <a:solidFill>
                    <a:srgbClr val="231F20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  <a:p>
                <a:pPr algn="ctr">
                  <a:lnSpc>
                    <a:spcPts val="2345"/>
                  </a:lnSpc>
                </a:pPr>
                <a:endParaRPr lang="en-US" sz="1938" b="1" spc="186">
                  <a:solidFill>
                    <a:srgbClr val="231F20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625146" y="756191"/>
              <a:ext cx="3201217" cy="2148357"/>
              <a:chOff x="0" y="0"/>
              <a:chExt cx="576378" cy="38681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MODEL KARŞILAŞTIRMA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4071742" y="756191"/>
              <a:ext cx="3201217" cy="2148357"/>
              <a:chOff x="0" y="0"/>
              <a:chExt cx="576378" cy="38681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OPTIMIZASYON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8397517" y="702942"/>
              <a:ext cx="3201217" cy="2148357"/>
              <a:chOff x="0" y="0"/>
              <a:chExt cx="576378" cy="38681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76378" cy="386811"/>
              </a:xfrm>
              <a:custGeom>
                <a:avLst/>
                <a:gdLst/>
                <a:ahLst/>
                <a:cxnLst/>
                <a:rect l="l" t="t" r="r" b="b"/>
                <a:pathLst>
                  <a:path w="576378" h="386811">
                    <a:moveTo>
                      <a:pt x="70941" y="0"/>
                    </a:moveTo>
                    <a:lnTo>
                      <a:pt x="505438" y="0"/>
                    </a:lnTo>
                    <a:cubicBezTo>
                      <a:pt x="544617" y="0"/>
                      <a:pt x="576378" y="31761"/>
                      <a:pt x="576378" y="70941"/>
                    </a:cubicBezTo>
                    <a:lnTo>
                      <a:pt x="576378" y="315870"/>
                    </a:lnTo>
                    <a:cubicBezTo>
                      <a:pt x="576378" y="334685"/>
                      <a:pt x="568904" y="352729"/>
                      <a:pt x="555600" y="366033"/>
                    </a:cubicBezTo>
                    <a:cubicBezTo>
                      <a:pt x="542296" y="379337"/>
                      <a:pt x="524252" y="386811"/>
                      <a:pt x="505438" y="386811"/>
                    </a:cubicBezTo>
                    <a:lnTo>
                      <a:pt x="70941" y="386811"/>
                    </a:lnTo>
                    <a:cubicBezTo>
                      <a:pt x="52126" y="386811"/>
                      <a:pt x="34082" y="379337"/>
                      <a:pt x="20778" y="366033"/>
                    </a:cubicBezTo>
                    <a:cubicBezTo>
                      <a:pt x="7474" y="352729"/>
                      <a:pt x="0" y="334685"/>
                      <a:pt x="0" y="315870"/>
                    </a:cubicBezTo>
                    <a:lnTo>
                      <a:pt x="0" y="70941"/>
                    </a:lnTo>
                    <a:cubicBezTo>
                      <a:pt x="0" y="52126"/>
                      <a:pt x="7474" y="34082"/>
                      <a:pt x="20778" y="20778"/>
                    </a:cubicBezTo>
                    <a:cubicBezTo>
                      <a:pt x="34082" y="7474"/>
                      <a:pt x="52126" y="0"/>
                      <a:pt x="70941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9525"/>
                <a:ext cx="576378" cy="39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r>
                  <a:rPr lang="en-US" sz="1938" b="1" spc="186">
                    <a:solidFill>
                      <a:srgbClr val="231F2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MODEL DEĞERLENDIRME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H="1" flipV="1">
              <a:off x="13054595" y="1836720"/>
              <a:ext cx="458116" cy="635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" name="AutoShape 37"/>
            <p:cNvSpPr/>
            <p:nvPr/>
          </p:nvSpPr>
          <p:spPr>
            <a:xfrm flipH="1">
              <a:off x="8322012" y="1836719"/>
              <a:ext cx="985593" cy="635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 flipH="1" flipV="1">
              <a:off x="17546646" y="1764421"/>
              <a:ext cx="577183" cy="635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 flipH="1" flipV="1">
              <a:off x="13955793" y="5115164"/>
              <a:ext cx="1600568" cy="635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 flipH="1">
              <a:off x="7336379" y="5115164"/>
              <a:ext cx="1539009" cy="2540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7237361" y="3435114"/>
              <a:ext cx="618571" cy="618571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7466280" y="3444800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8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1256920" y="3422415"/>
              <a:ext cx="618571" cy="618571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1485839" y="3432101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7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4505547" y="3422415"/>
              <a:ext cx="618571" cy="618571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4734467" y="3432101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6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19717937" y="84371"/>
              <a:ext cx="618571" cy="618571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9946857" y="94057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5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5327467" y="16036"/>
              <a:ext cx="618571" cy="618571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5556386" y="25722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4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10938162" y="0"/>
              <a:ext cx="618571" cy="618571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1167082" y="9686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3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5783863" y="66836"/>
              <a:ext cx="618571" cy="618571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6012783" y="76522"/>
              <a:ext cx="211247" cy="5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389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2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70" name="Group 70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1187532" y="3307859"/>
            <a:ext cx="2789184" cy="1277953"/>
          </a:xfrm>
          <a:custGeom>
            <a:avLst/>
            <a:gdLst/>
            <a:ahLst/>
            <a:cxnLst/>
            <a:rect l="l" t="t" r="r" b="b"/>
            <a:pathLst>
              <a:path w="2789184" h="1277953">
                <a:moveTo>
                  <a:pt x="0" y="0"/>
                </a:moveTo>
                <a:lnTo>
                  <a:pt x="2789183" y="0"/>
                </a:lnTo>
                <a:lnTo>
                  <a:pt x="2789183" y="1277953"/>
                </a:lnTo>
                <a:lnTo>
                  <a:pt x="0" y="1277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6926" y="3727760"/>
            <a:ext cx="5358503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Veri Analizi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687990"/>
            <a:ext cx="702954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Bu yapı, modelin genellenebilir ve stabil sonuçlar üretmesini desteklemektedir.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44000" y="7377466"/>
            <a:ext cx="5532310" cy="2204335"/>
            <a:chOff x="0" y="0"/>
            <a:chExt cx="7376413" cy="293911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376413" cy="2939114"/>
              <a:chOff x="0" y="0"/>
              <a:chExt cx="1457069" cy="58056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57069" cy="580566"/>
              </a:xfrm>
              <a:custGeom>
                <a:avLst/>
                <a:gdLst/>
                <a:ahLst/>
                <a:cxnLst/>
                <a:rect l="l" t="t" r="r" b="b"/>
                <a:pathLst>
                  <a:path w="1457069" h="580566">
                    <a:moveTo>
                      <a:pt x="30787" y="0"/>
                    </a:moveTo>
                    <a:lnTo>
                      <a:pt x="1426282" y="0"/>
                    </a:lnTo>
                    <a:cubicBezTo>
                      <a:pt x="1443285" y="0"/>
                      <a:pt x="1457069" y="13784"/>
                      <a:pt x="1457069" y="30787"/>
                    </a:cubicBezTo>
                    <a:lnTo>
                      <a:pt x="1457069" y="549779"/>
                    </a:lnTo>
                    <a:cubicBezTo>
                      <a:pt x="1457069" y="566782"/>
                      <a:pt x="1443285" y="580566"/>
                      <a:pt x="1426282" y="580566"/>
                    </a:cubicBezTo>
                    <a:lnTo>
                      <a:pt x="30787" y="580566"/>
                    </a:lnTo>
                    <a:cubicBezTo>
                      <a:pt x="13784" y="580566"/>
                      <a:pt x="0" y="566782"/>
                      <a:pt x="0" y="549779"/>
                    </a:cubicBezTo>
                    <a:lnTo>
                      <a:pt x="0" y="30787"/>
                    </a:lnTo>
                    <a:cubicBezTo>
                      <a:pt x="0" y="13784"/>
                      <a:pt x="13784" y="0"/>
                      <a:pt x="30787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57069" cy="5900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95745" y="81362"/>
              <a:ext cx="5123401" cy="27382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3"/>
                </a:lnSpc>
              </a:pPr>
              <a:endParaRPr/>
            </a:p>
            <a:p>
              <a:pPr marL="604519" lvl="1" indent="-302260" algn="just">
                <a:lnSpc>
                  <a:spcPts val="3163"/>
                </a:lnSpc>
                <a:buFont typeface="Arial"/>
                <a:buChar char="•"/>
              </a:pPr>
              <a:r>
                <a:rPr lang="en-US" sz="2799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İklim verileri</a:t>
              </a:r>
            </a:p>
            <a:p>
              <a:pPr marL="604519" lvl="1" indent="-302260" algn="just">
                <a:lnSpc>
                  <a:spcPts val="3163"/>
                </a:lnSpc>
                <a:buFont typeface="Arial"/>
                <a:buChar char="•"/>
              </a:pPr>
              <a:r>
                <a:rPr lang="en-US" sz="2799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Toprak özellikleri</a:t>
              </a:r>
            </a:p>
            <a:p>
              <a:pPr marL="604519" lvl="1" indent="-302260" algn="just">
                <a:lnSpc>
                  <a:spcPts val="3163"/>
                </a:lnSpc>
                <a:buFont typeface="Arial"/>
                <a:buChar char="•"/>
              </a:pPr>
              <a:r>
                <a:rPr lang="en-US" sz="2799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Çevresel faktörler</a:t>
              </a:r>
            </a:p>
            <a:p>
              <a:pPr algn="just">
                <a:lnSpc>
                  <a:spcPts val="3163"/>
                </a:lnSpc>
              </a:pPr>
              <a:endPara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2813812"/>
            <a:ext cx="6797139" cy="4659376"/>
            <a:chOff x="0" y="0"/>
            <a:chExt cx="9062852" cy="621250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473145"/>
              <a:ext cx="9062852" cy="4923558"/>
              <a:chOff x="0" y="0"/>
              <a:chExt cx="1790193" cy="97255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790193" cy="972555"/>
              </a:xfrm>
              <a:custGeom>
                <a:avLst/>
                <a:gdLst/>
                <a:ahLst/>
                <a:cxnLst/>
                <a:rect l="l" t="t" r="r" b="b"/>
                <a:pathLst>
                  <a:path w="1790193" h="972555">
                    <a:moveTo>
                      <a:pt x="25058" y="0"/>
                    </a:moveTo>
                    <a:lnTo>
                      <a:pt x="1765135" y="0"/>
                    </a:lnTo>
                    <a:cubicBezTo>
                      <a:pt x="1771781" y="0"/>
                      <a:pt x="1778154" y="2640"/>
                      <a:pt x="1782854" y="7339"/>
                    </a:cubicBezTo>
                    <a:cubicBezTo>
                      <a:pt x="1787553" y="12039"/>
                      <a:pt x="1790193" y="18412"/>
                      <a:pt x="1790193" y="25058"/>
                    </a:cubicBezTo>
                    <a:lnTo>
                      <a:pt x="1790193" y="947497"/>
                    </a:lnTo>
                    <a:cubicBezTo>
                      <a:pt x="1790193" y="954143"/>
                      <a:pt x="1787553" y="960516"/>
                      <a:pt x="1782854" y="965215"/>
                    </a:cubicBezTo>
                    <a:cubicBezTo>
                      <a:pt x="1778154" y="969915"/>
                      <a:pt x="1771781" y="972555"/>
                      <a:pt x="1765135" y="972555"/>
                    </a:cubicBezTo>
                    <a:lnTo>
                      <a:pt x="25058" y="972555"/>
                    </a:lnTo>
                    <a:cubicBezTo>
                      <a:pt x="18412" y="972555"/>
                      <a:pt x="12039" y="969915"/>
                      <a:pt x="7339" y="965215"/>
                    </a:cubicBezTo>
                    <a:cubicBezTo>
                      <a:pt x="2640" y="960516"/>
                      <a:pt x="0" y="954143"/>
                      <a:pt x="0" y="947497"/>
                    </a:cubicBezTo>
                    <a:lnTo>
                      <a:pt x="0" y="25058"/>
                    </a:lnTo>
                    <a:cubicBezTo>
                      <a:pt x="0" y="18412"/>
                      <a:pt x="2640" y="12039"/>
                      <a:pt x="7339" y="7339"/>
                    </a:cubicBezTo>
                    <a:cubicBezTo>
                      <a:pt x="12039" y="2640"/>
                      <a:pt x="18412" y="0"/>
                      <a:pt x="25058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1790193" cy="9820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71395" y="1010681"/>
              <a:ext cx="7585519" cy="4338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5000 gözlem, 19 değişken</a:t>
              </a:r>
            </a:p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Eksik veri yok → modellemeye hazır</a:t>
              </a:r>
            </a:p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Değişkenlerin çoğu sayısal (float)</a:t>
              </a:r>
            </a:p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Area, Item → kategorik (encode edildi)</a:t>
              </a:r>
            </a:p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İklim &amp; toprak verileri → geniş dağılım</a:t>
              </a:r>
            </a:p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Veri seti → yüksek çeşitlilik içeriyor</a:t>
              </a:r>
            </a:p>
            <a:p>
              <a:pPr marL="604521" lvl="1" indent="-302261" algn="just">
                <a:lnSpc>
                  <a:spcPts val="3164"/>
                </a:lnSpc>
                <a:buFont typeface="Arial"/>
                <a:buChar char="•"/>
              </a:pPr>
              <a:r>
                <a:rPr lang="en-US" sz="28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Hedef değişken (yield_ton)</a:t>
              </a:r>
            </a:p>
            <a:p>
              <a:pPr algn="just">
                <a:lnSpc>
                  <a:spcPts val="3164"/>
                </a:lnSpc>
              </a:pPr>
              <a:endParaRPr lang="en-US" sz="28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95745" y="0"/>
              <a:ext cx="4114800" cy="574499"/>
              <a:chOff x="0" y="0"/>
              <a:chExt cx="812800" cy="11348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11348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3481">
                    <a:moveTo>
                      <a:pt x="56741" y="0"/>
                    </a:moveTo>
                    <a:lnTo>
                      <a:pt x="756059" y="0"/>
                    </a:lnTo>
                    <a:cubicBezTo>
                      <a:pt x="771108" y="0"/>
                      <a:pt x="785540" y="5978"/>
                      <a:pt x="796181" y="16619"/>
                    </a:cubicBezTo>
                    <a:cubicBezTo>
                      <a:pt x="806822" y="27260"/>
                      <a:pt x="812800" y="41692"/>
                      <a:pt x="812800" y="56741"/>
                    </a:cubicBezTo>
                    <a:lnTo>
                      <a:pt x="812800" y="56741"/>
                    </a:lnTo>
                    <a:cubicBezTo>
                      <a:pt x="812800" y="71789"/>
                      <a:pt x="806822" y="86221"/>
                      <a:pt x="796181" y="96862"/>
                    </a:cubicBezTo>
                    <a:cubicBezTo>
                      <a:pt x="785540" y="107503"/>
                      <a:pt x="771108" y="113481"/>
                      <a:pt x="756059" y="113481"/>
                    </a:cubicBezTo>
                    <a:lnTo>
                      <a:pt x="56741" y="113481"/>
                    </a:lnTo>
                    <a:cubicBezTo>
                      <a:pt x="41692" y="113481"/>
                      <a:pt x="27260" y="107503"/>
                      <a:pt x="16619" y="96862"/>
                    </a:cubicBezTo>
                    <a:cubicBezTo>
                      <a:pt x="5978" y="86221"/>
                      <a:pt x="0" y="71789"/>
                      <a:pt x="0" y="56741"/>
                    </a:cubicBezTo>
                    <a:lnTo>
                      <a:pt x="0" y="56741"/>
                    </a:lnTo>
                    <a:cubicBezTo>
                      <a:pt x="0" y="41692"/>
                      <a:pt x="5978" y="27260"/>
                      <a:pt x="16619" y="16619"/>
                    </a:cubicBezTo>
                    <a:cubicBezTo>
                      <a:pt x="27260" y="5978"/>
                      <a:pt x="41692" y="0"/>
                      <a:pt x="56741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812800" cy="1611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103651" y="-76411"/>
              <a:ext cx="2584556" cy="593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13"/>
                </a:lnSpc>
                <a:spcBef>
                  <a:spcPct val="0"/>
                </a:spcBef>
              </a:pPr>
              <a:r>
                <a:rPr lang="en-US" sz="2438">
                  <a:solidFill>
                    <a:srgbClr val="F9FAF8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Veri Seti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95745" y="5638003"/>
              <a:ext cx="4114800" cy="574499"/>
              <a:chOff x="0" y="0"/>
              <a:chExt cx="812800" cy="11348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11348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3481">
                    <a:moveTo>
                      <a:pt x="56741" y="0"/>
                    </a:moveTo>
                    <a:lnTo>
                      <a:pt x="756059" y="0"/>
                    </a:lnTo>
                    <a:cubicBezTo>
                      <a:pt x="771108" y="0"/>
                      <a:pt x="785540" y="5978"/>
                      <a:pt x="796181" y="16619"/>
                    </a:cubicBezTo>
                    <a:cubicBezTo>
                      <a:pt x="806822" y="27260"/>
                      <a:pt x="812800" y="41692"/>
                      <a:pt x="812800" y="56741"/>
                    </a:cubicBezTo>
                    <a:lnTo>
                      <a:pt x="812800" y="56741"/>
                    </a:lnTo>
                    <a:cubicBezTo>
                      <a:pt x="812800" y="71789"/>
                      <a:pt x="806822" y="86221"/>
                      <a:pt x="796181" y="96862"/>
                    </a:cubicBezTo>
                    <a:cubicBezTo>
                      <a:pt x="785540" y="107503"/>
                      <a:pt x="771108" y="113481"/>
                      <a:pt x="756059" y="113481"/>
                    </a:cubicBezTo>
                    <a:lnTo>
                      <a:pt x="56741" y="113481"/>
                    </a:lnTo>
                    <a:cubicBezTo>
                      <a:pt x="41692" y="113481"/>
                      <a:pt x="27260" y="107503"/>
                      <a:pt x="16619" y="96862"/>
                    </a:cubicBezTo>
                    <a:cubicBezTo>
                      <a:pt x="5978" y="86221"/>
                      <a:pt x="0" y="71789"/>
                      <a:pt x="0" y="56741"/>
                    </a:cubicBezTo>
                    <a:lnTo>
                      <a:pt x="0" y="56741"/>
                    </a:lnTo>
                    <a:cubicBezTo>
                      <a:pt x="0" y="41692"/>
                      <a:pt x="5978" y="27260"/>
                      <a:pt x="16619" y="16619"/>
                    </a:cubicBezTo>
                    <a:cubicBezTo>
                      <a:pt x="27260" y="5978"/>
                      <a:pt x="41692" y="0"/>
                      <a:pt x="56741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812800" cy="1611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082611" y="5576012"/>
              <a:ext cx="2584556" cy="593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413"/>
                </a:lnSpc>
                <a:spcBef>
                  <a:spcPct val="0"/>
                </a:spcBef>
              </a:pPr>
              <a:r>
                <a:rPr lang="en-US" sz="2438">
                  <a:solidFill>
                    <a:srgbClr val="F9FAF8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İçerik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1042258" y="2284038"/>
            <a:ext cx="2789184" cy="1277953"/>
          </a:xfrm>
          <a:custGeom>
            <a:avLst/>
            <a:gdLst/>
            <a:ahLst/>
            <a:cxnLst/>
            <a:rect l="l" t="t" r="r" b="b"/>
            <a:pathLst>
              <a:path w="2789184" h="1277953">
                <a:moveTo>
                  <a:pt x="0" y="0"/>
                </a:moveTo>
                <a:lnTo>
                  <a:pt x="2789184" y="0"/>
                </a:lnTo>
                <a:lnTo>
                  <a:pt x="2789184" y="1277953"/>
                </a:lnTo>
                <a:lnTo>
                  <a:pt x="0" y="1277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54440" y="2739461"/>
            <a:ext cx="8684427" cy="6236529"/>
          </a:xfrm>
          <a:custGeom>
            <a:avLst/>
            <a:gdLst/>
            <a:ahLst/>
            <a:cxnLst/>
            <a:rect l="l" t="t" r="r" b="b"/>
            <a:pathLst>
              <a:path w="8684427" h="6236529">
                <a:moveTo>
                  <a:pt x="0" y="0"/>
                </a:moveTo>
                <a:lnTo>
                  <a:pt x="8684428" y="0"/>
                </a:lnTo>
                <a:lnTo>
                  <a:pt x="8684428" y="6236529"/>
                </a:lnTo>
                <a:lnTo>
                  <a:pt x="0" y="623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95938" y="2703939"/>
            <a:ext cx="5358503" cy="201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Ürün Dağılımı</a:t>
            </a:r>
          </a:p>
          <a:p>
            <a:pPr algn="l">
              <a:lnSpc>
                <a:spcPts val="7700"/>
              </a:lnSpc>
            </a:pPr>
            <a:endParaRPr lang="en-US" sz="550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2334" y="5542560"/>
            <a:ext cx="6506691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Veri seti dengeli bir dağılıma sahiptir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1042258" y="2284038"/>
            <a:ext cx="2789184" cy="1277953"/>
          </a:xfrm>
          <a:custGeom>
            <a:avLst/>
            <a:gdLst/>
            <a:ahLst/>
            <a:cxnLst/>
            <a:rect l="l" t="t" r="r" b="b"/>
            <a:pathLst>
              <a:path w="2789184" h="1277953">
                <a:moveTo>
                  <a:pt x="0" y="0"/>
                </a:moveTo>
                <a:lnTo>
                  <a:pt x="2789184" y="0"/>
                </a:lnTo>
                <a:lnTo>
                  <a:pt x="2789184" y="1277953"/>
                </a:lnTo>
                <a:lnTo>
                  <a:pt x="0" y="1277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34100" y="2552839"/>
            <a:ext cx="10356306" cy="7016397"/>
          </a:xfrm>
          <a:custGeom>
            <a:avLst/>
            <a:gdLst/>
            <a:ahLst/>
            <a:cxnLst/>
            <a:rect l="l" t="t" r="r" b="b"/>
            <a:pathLst>
              <a:path w="10356306" h="7016397">
                <a:moveTo>
                  <a:pt x="0" y="0"/>
                </a:moveTo>
                <a:lnTo>
                  <a:pt x="10356305" y="0"/>
                </a:lnTo>
                <a:lnTo>
                  <a:pt x="10356305" y="7016397"/>
                </a:lnTo>
                <a:lnTo>
                  <a:pt x="0" y="7016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95938" y="2703939"/>
            <a:ext cx="5358503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Histogram Analizi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4730333"/>
            <a:ext cx="7181766" cy="353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Çoğu değişken geniş ve dengeli bir aralıkta dağılım göstermektedir → veri çeşitliliği yüksektir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Bazı değişkenler (avg_temp, soil_temp, yield_ton) normal dağılıma yakın yapıdadır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Bazı değişkenlerde (average_rainfall gibi)hafif çarpıklık (skewness) gözlemlenmektedir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9126830" y="2103420"/>
            <a:ext cx="17170" cy="818358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59853" y="3588832"/>
            <a:ext cx="673938" cy="675165"/>
          </a:xfrm>
          <a:custGeom>
            <a:avLst/>
            <a:gdLst/>
            <a:ahLst/>
            <a:cxnLst/>
            <a:rect l="l" t="t" r="r" b="b"/>
            <a:pathLst>
              <a:path w="673938" h="675165">
                <a:moveTo>
                  <a:pt x="0" y="0"/>
                </a:moveTo>
                <a:lnTo>
                  <a:pt x="673938" y="0"/>
                </a:lnTo>
                <a:lnTo>
                  <a:pt x="673938" y="675165"/>
                </a:lnTo>
                <a:lnTo>
                  <a:pt x="0" y="675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0491" y="3373883"/>
            <a:ext cx="5358503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Feature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964" y="5308369"/>
            <a:ext cx="6830294" cy="158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Bu bölümde, veri seti modelleme için uygun hale getirilmiş ve yeni özellikler türetilmiştir.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99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38670" y="2251011"/>
            <a:ext cx="5454057" cy="201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8"/>
              </a:lnSpc>
            </a:pPr>
            <a:r>
              <a:rPr lang="en-US" sz="5498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yeni özellikler</a:t>
            </a:r>
          </a:p>
          <a:p>
            <a:pPr algn="l">
              <a:lnSpc>
                <a:spcPts val="7698"/>
              </a:lnSpc>
            </a:pPr>
            <a:endParaRPr lang="en-US" sz="549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413295" y="3665981"/>
            <a:ext cx="7104808" cy="1259597"/>
            <a:chOff x="0" y="0"/>
            <a:chExt cx="9473078" cy="1679462"/>
          </a:xfrm>
        </p:grpSpPr>
        <p:grpSp>
          <p:nvGrpSpPr>
            <p:cNvPr id="9" name="Group 9"/>
            <p:cNvGrpSpPr/>
            <p:nvPr/>
          </p:nvGrpSpPr>
          <p:grpSpPr>
            <a:xfrm>
              <a:off x="451789" y="0"/>
              <a:ext cx="9021288" cy="1594710"/>
              <a:chOff x="0" y="0"/>
              <a:chExt cx="1781983" cy="3150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81983" cy="315004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15004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89831"/>
                    </a:lnTo>
                    <a:cubicBezTo>
                      <a:pt x="1781983" y="303734"/>
                      <a:pt x="1770712" y="315004"/>
                      <a:pt x="1756809" y="315004"/>
                    </a:cubicBezTo>
                    <a:lnTo>
                      <a:pt x="25173" y="315004"/>
                    </a:lnTo>
                    <a:cubicBezTo>
                      <a:pt x="11271" y="315004"/>
                      <a:pt x="0" y="303734"/>
                      <a:pt x="0" y="289831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9525"/>
                <a:ext cx="1781983" cy="3245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326922" y="547892"/>
              <a:ext cx="7768711" cy="1131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rain_temp → yağış ve sıcaklık etkileşimi</a:t>
              </a:r>
            </a:p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endParaRPr lang="en-US" sz="24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398633"/>
              <a:ext cx="903579" cy="90357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34395" y="418569"/>
              <a:ext cx="308579" cy="841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13295" y="5422669"/>
            <a:ext cx="7104808" cy="1234466"/>
            <a:chOff x="0" y="0"/>
            <a:chExt cx="9473078" cy="1645955"/>
          </a:xfrm>
        </p:grpSpPr>
        <p:grpSp>
          <p:nvGrpSpPr>
            <p:cNvPr id="18" name="Group 18"/>
            <p:cNvGrpSpPr/>
            <p:nvPr/>
          </p:nvGrpSpPr>
          <p:grpSpPr>
            <a:xfrm>
              <a:off x="451789" y="0"/>
              <a:ext cx="9021288" cy="1645955"/>
              <a:chOff x="0" y="0"/>
              <a:chExt cx="1781983" cy="32512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781983" cy="325127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25127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99953"/>
                    </a:lnTo>
                    <a:cubicBezTo>
                      <a:pt x="1781983" y="313856"/>
                      <a:pt x="1770712" y="325127"/>
                      <a:pt x="1756809" y="325127"/>
                    </a:cubicBezTo>
                    <a:lnTo>
                      <a:pt x="25173" y="325127"/>
                    </a:lnTo>
                    <a:cubicBezTo>
                      <a:pt x="11271" y="325127"/>
                      <a:pt x="0" y="313856"/>
                      <a:pt x="0" y="299953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781983" cy="3346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204748" y="218785"/>
              <a:ext cx="7768711" cy="1131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soil_total → toplam toprak besin değeri (N+P+K) </a:t>
              </a:r>
            </a:p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endParaRPr lang="en-US" sz="24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425126"/>
              <a:ext cx="903579" cy="90357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34395" y="445061"/>
              <a:ext cx="308579" cy="841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13295" y="7131256"/>
            <a:ext cx="7077137" cy="1234466"/>
            <a:chOff x="0" y="0"/>
            <a:chExt cx="9436183" cy="1645955"/>
          </a:xfrm>
        </p:grpSpPr>
        <p:grpSp>
          <p:nvGrpSpPr>
            <p:cNvPr id="27" name="Group 27"/>
            <p:cNvGrpSpPr/>
            <p:nvPr/>
          </p:nvGrpSpPr>
          <p:grpSpPr>
            <a:xfrm>
              <a:off x="414895" y="0"/>
              <a:ext cx="9021288" cy="1645955"/>
              <a:chOff x="0" y="0"/>
              <a:chExt cx="1781983" cy="32512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781983" cy="325127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25127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99953"/>
                    </a:lnTo>
                    <a:cubicBezTo>
                      <a:pt x="1781983" y="313856"/>
                      <a:pt x="1770712" y="325127"/>
                      <a:pt x="1756809" y="325127"/>
                    </a:cubicBezTo>
                    <a:lnTo>
                      <a:pt x="25173" y="325127"/>
                    </a:lnTo>
                    <a:cubicBezTo>
                      <a:pt x="11271" y="325127"/>
                      <a:pt x="0" y="313856"/>
                      <a:pt x="0" y="299953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9525"/>
                <a:ext cx="1781983" cy="3346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41183" y="276047"/>
              <a:ext cx="7768711" cy="942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climate_index → nem ve güneş radyasyonu etkisi </a:t>
              </a:r>
            </a:p>
            <a:p>
              <a:pPr algn="just">
                <a:lnSpc>
                  <a:spcPts val="2154"/>
                </a:lnSpc>
                <a:spcBef>
                  <a:spcPct val="0"/>
                </a:spcBef>
              </a:pPr>
              <a:endParaRPr lang="en-US" sz="24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371188"/>
              <a:ext cx="903579" cy="903579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34395" y="391124"/>
              <a:ext cx="308579" cy="841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27130" y="8718147"/>
            <a:ext cx="7077137" cy="1234466"/>
            <a:chOff x="0" y="0"/>
            <a:chExt cx="9436183" cy="1645955"/>
          </a:xfrm>
        </p:grpSpPr>
        <p:grpSp>
          <p:nvGrpSpPr>
            <p:cNvPr id="36" name="Group 36"/>
            <p:cNvGrpSpPr/>
            <p:nvPr/>
          </p:nvGrpSpPr>
          <p:grpSpPr>
            <a:xfrm>
              <a:off x="414895" y="0"/>
              <a:ext cx="9021288" cy="1645955"/>
              <a:chOff x="0" y="0"/>
              <a:chExt cx="1781983" cy="32512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781983" cy="325127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25127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99953"/>
                    </a:lnTo>
                    <a:cubicBezTo>
                      <a:pt x="1781983" y="313856"/>
                      <a:pt x="1770712" y="325127"/>
                      <a:pt x="1756809" y="325127"/>
                    </a:cubicBezTo>
                    <a:lnTo>
                      <a:pt x="25173" y="325127"/>
                    </a:lnTo>
                    <a:cubicBezTo>
                      <a:pt x="11271" y="325127"/>
                      <a:pt x="0" y="313856"/>
                      <a:pt x="0" y="299953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1781983" cy="3346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371188"/>
              <a:ext cx="903579" cy="903579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34395" y="391124"/>
              <a:ext cx="308579" cy="841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86"/>
                </a:lnSpc>
              </a:pPr>
              <a:r>
                <a:rPr lang="en-US" sz="34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8078" y="398192"/>
              <a:ext cx="7768711" cy="942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year_trend → zamansal değişim etkisi </a:t>
              </a:r>
            </a:p>
            <a:p>
              <a:pPr algn="just">
                <a:lnSpc>
                  <a:spcPts val="2154"/>
                </a:lnSpc>
                <a:spcBef>
                  <a:spcPct val="0"/>
                </a:spcBef>
              </a:pPr>
              <a:endParaRPr lang="en-US" sz="24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638612" y="2215060"/>
            <a:ext cx="5358503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Kullanılan Modeller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70613" y="3590431"/>
            <a:ext cx="16458785" cy="6176027"/>
            <a:chOff x="0" y="0"/>
            <a:chExt cx="21945047" cy="8234702"/>
          </a:xfrm>
        </p:grpSpPr>
        <p:sp>
          <p:nvSpPr>
            <p:cNvPr id="5" name="TextBox 5"/>
            <p:cNvSpPr txBox="1"/>
            <p:nvPr/>
          </p:nvSpPr>
          <p:spPr>
            <a:xfrm>
              <a:off x="165765" y="914274"/>
              <a:ext cx="6469892" cy="259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En temel regresyon modelidir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Değişkenler arasındaki lineer ilişkiyi öğrenir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Basit ve hızlıdır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Karmaşık ilişkilerde yetersiz kalabilir</a:t>
              </a:r>
            </a:p>
            <a:p>
              <a:pPr algn="just">
                <a:lnSpc>
                  <a:spcPts val="3072"/>
                </a:lnSpc>
                <a:spcBef>
                  <a:spcPct val="0"/>
                </a:spcBef>
              </a:pPr>
              <a:endParaRPr lang="en-US" sz="219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16567" y="101058"/>
              <a:ext cx="4191057" cy="545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28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Linear Regression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0" y="0"/>
              <a:ext cx="847060" cy="646540"/>
              <a:chOff x="0" y="0"/>
              <a:chExt cx="1064884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6488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064884" h="812800">
                    <a:moveTo>
                      <a:pt x="532442" y="0"/>
                    </a:moveTo>
                    <a:cubicBezTo>
                      <a:pt x="238382" y="0"/>
                      <a:pt x="0" y="181951"/>
                      <a:pt x="0" y="406400"/>
                    </a:cubicBezTo>
                    <a:cubicBezTo>
                      <a:pt x="0" y="630849"/>
                      <a:pt x="238382" y="812800"/>
                      <a:pt x="532442" y="812800"/>
                    </a:cubicBezTo>
                    <a:cubicBezTo>
                      <a:pt x="826501" y="812800"/>
                      <a:pt x="1064884" y="630849"/>
                      <a:pt x="1064884" y="406400"/>
                    </a:cubicBezTo>
                    <a:cubicBezTo>
                      <a:pt x="1064884" y="181951"/>
                      <a:pt x="826501" y="0"/>
                      <a:pt x="532442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9833" y="28575"/>
                <a:ext cx="865218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13478" y="14431"/>
              <a:ext cx="289278" cy="6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634835"/>
              <a:ext cx="6012888" cy="259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Birden fazla karar ağacının birleşimidir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Overfitting’i azaltır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Nonlinear ilişkileri öğrenebilir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Stabil ve güvenilir bir modeldir</a:t>
              </a:r>
            </a:p>
            <a:p>
              <a:pPr algn="just">
                <a:lnSpc>
                  <a:spcPts val="3072"/>
                </a:lnSpc>
                <a:spcBef>
                  <a:spcPct val="0"/>
                </a:spcBef>
              </a:pPr>
              <a:endParaRPr lang="en-US" sz="219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3867" y="4595946"/>
              <a:ext cx="3423983" cy="545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28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Random Forest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4588280"/>
              <a:ext cx="769425" cy="646540"/>
              <a:chOff x="0" y="0"/>
              <a:chExt cx="967284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6728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67284" h="812800">
                    <a:moveTo>
                      <a:pt x="483642" y="0"/>
                    </a:moveTo>
                    <a:cubicBezTo>
                      <a:pt x="216534" y="0"/>
                      <a:pt x="0" y="181951"/>
                      <a:pt x="0" y="406400"/>
                    </a:cubicBezTo>
                    <a:cubicBezTo>
                      <a:pt x="0" y="630849"/>
                      <a:pt x="216534" y="812800"/>
                      <a:pt x="483642" y="812800"/>
                    </a:cubicBezTo>
                    <a:cubicBezTo>
                      <a:pt x="750750" y="812800"/>
                      <a:pt x="967284" y="630849"/>
                      <a:pt x="967284" y="406400"/>
                    </a:cubicBezTo>
                    <a:cubicBezTo>
                      <a:pt x="967284" y="181951"/>
                      <a:pt x="750750" y="0"/>
                      <a:pt x="483642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0683" y="28575"/>
                <a:ext cx="785918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84747" y="4602711"/>
              <a:ext cx="262765" cy="6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8116" y="914274"/>
              <a:ext cx="6032111" cy="259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Hataları azaltarak ardışık ağaçlar oluşturur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Daha yüksek doğruluk sağlar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Overfitting riski olabilir</a:t>
              </a:r>
            </a:p>
            <a:p>
              <a:pPr algn="just">
                <a:lnSpc>
                  <a:spcPts val="3072"/>
                </a:lnSpc>
                <a:spcBef>
                  <a:spcPct val="0"/>
                </a:spcBef>
              </a:pPr>
              <a:endParaRPr lang="en-US" sz="219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26804" y="7666"/>
              <a:ext cx="4543423" cy="545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28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Gradient Boosting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112607" y="0"/>
              <a:ext cx="918277" cy="646540"/>
              <a:chOff x="0" y="0"/>
              <a:chExt cx="1154414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5441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54414" h="812800">
                    <a:moveTo>
                      <a:pt x="577207" y="0"/>
                    </a:moveTo>
                    <a:cubicBezTo>
                      <a:pt x="258424" y="0"/>
                      <a:pt x="0" y="181951"/>
                      <a:pt x="0" y="406400"/>
                    </a:cubicBezTo>
                    <a:cubicBezTo>
                      <a:pt x="0" y="630849"/>
                      <a:pt x="258424" y="812800"/>
                      <a:pt x="577207" y="812800"/>
                    </a:cubicBezTo>
                    <a:cubicBezTo>
                      <a:pt x="895990" y="812800"/>
                      <a:pt x="1154414" y="630849"/>
                      <a:pt x="1154414" y="406400"/>
                    </a:cubicBezTo>
                    <a:cubicBezTo>
                      <a:pt x="1154414" y="181951"/>
                      <a:pt x="895990" y="0"/>
                      <a:pt x="577207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8226" y="28575"/>
                <a:ext cx="937962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452441" y="14431"/>
              <a:ext cx="313599" cy="6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38116" y="5525154"/>
              <a:ext cx="5835396" cy="259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Gradient Boosting’in optimize edilmiş versiyonu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Hızlı ve yüksek performanslıdır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Büyük veri setlerinde etkilidir</a:t>
              </a:r>
            </a:p>
            <a:p>
              <a:pPr algn="just">
                <a:lnSpc>
                  <a:spcPts val="3072"/>
                </a:lnSpc>
                <a:spcBef>
                  <a:spcPct val="0"/>
                </a:spcBef>
              </a:pPr>
              <a:endParaRPr lang="en-US" sz="219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253674" y="4588280"/>
              <a:ext cx="768836" cy="646540"/>
              <a:chOff x="0" y="0"/>
              <a:chExt cx="966544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6654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66544" h="812800">
                    <a:moveTo>
                      <a:pt x="483272" y="0"/>
                    </a:moveTo>
                    <a:cubicBezTo>
                      <a:pt x="216368" y="0"/>
                      <a:pt x="0" y="181951"/>
                      <a:pt x="0" y="406400"/>
                    </a:cubicBezTo>
                    <a:cubicBezTo>
                      <a:pt x="0" y="630849"/>
                      <a:pt x="216368" y="812800"/>
                      <a:pt x="483272" y="812800"/>
                    </a:cubicBezTo>
                    <a:cubicBezTo>
                      <a:pt x="750176" y="812800"/>
                      <a:pt x="966544" y="630849"/>
                      <a:pt x="966544" y="406400"/>
                    </a:cubicBezTo>
                    <a:cubicBezTo>
                      <a:pt x="966544" y="181951"/>
                      <a:pt x="750176" y="0"/>
                      <a:pt x="483272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614" y="28575"/>
                <a:ext cx="785317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9186442" y="4572413"/>
              <a:ext cx="1933322" cy="545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28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XGBoost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06633" y="4602711"/>
              <a:ext cx="262564" cy="6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4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6259876" y="4588280"/>
              <a:ext cx="871943" cy="646540"/>
              <a:chOff x="0" y="0"/>
              <a:chExt cx="1096165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961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096165" h="812800">
                    <a:moveTo>
                      <a:pt x="548083" y="0"/>
                    </a:moveTo>
                    <a:cubicBezTo>
                      <a:pt x="245385" y="0"/>
                      <a:pt x="0" y="181951"/>
                      <a:pt x="0" y="406400"/>
                    </a:cubicBezTo>
                    <a:cubicBezTo>
                      <a:pt x="0" y="630849"/>
                      <a:pt x="245385" y="812800"/>
                      <a:pt x="548083" y="812800"/>
                    </a:cubicBezTo>
                    <a:cubicBezTo>
                      <a:pt x="850780" y="812800"/>
                      <a:pt x="1096165" y="630849"/>
                      <a:pt x="1096165" y="406400"/>
                    </a:cubicBezTo>
                    <a:cubicBezTo>
                      <a:pt x="1096165" y="181951"/>
                      <a:pt x="850780" y="0"/>
                      <a:pt x="548083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2766" y="28575"/>
                <a:ext cx="890634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7317737" y="4572413"/>
              <a:ext cx="2192596" cy="545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28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CatBoost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546759" y="4602711"/>
              <a:ext cx="297775" cy="6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857159" y="5525154"/>
              <a:ext cx="5715471" cy="259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Kategorik veriler için optimize edilmiştir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Az veriyle bile yüksek performans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Overfitting’e karşı dayanıklıdır</a:t>
              </a:r>
            </a:p>
            <a:p>
              <a:pPr algn="just">
                <a:lnSpc>
                  <a:spcPts val="3072"/>
                </a:lnSpc>
                <a:spcBef>
                  <a:spcPct val="0"/>
                </a:spcBef>
              </a:pPr>
              <a:endParaRPr lang="en-US" sz="219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6585100" y="193189"/>
              <a:ext cx="825695" cy="646540"/>
              <a:chOff x="0" y="0"/>
              <a:chExt cx="1038025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03802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038025" h="812800">
                    <a:moveTo>
                      <a:pt x="519013" y="0"/>
                    </a:moveTo>
                    <a:cubicBezTo>
                      <a:pt x="232370" y="0"/>
                      <a:pt x="0" y="181951"/>
                      <a:pt x="0" y="406400"/>
                    </a:cubicBezTo>
                    <a:cubicBezTo>
                      <a:pt x="0" y="630849"/>
                      <a:pt x="232370" y="812800"/>
                      <a:pt x="519013" y="812800"/>
                    </a:cubicBezTo>
                    <a:cubicBezTo>
                      <a:pt x="805655" y="812800"/>
                      <a:pt x="1038025" y="630849"/>
                      <a:pt x="1038025" y="406400"/>
                    </a:cubicBezTo>
                    <a:cubicBezTo>
                      <a:pt x="1038025" y="181951"/>
                      <a:pt x="805655" y="0"/>
                      <a:pt x="519013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7315" y="28575"/>
                <a:ext cx="84339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7586852" y="177322"/>
              <a:ext cx="2559148" cy="545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28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LightGBM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856766" y="207620"/>
              <a:ext cx="281982" cy="6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6"/>
                </a:lnSpc>
              </a:pPr>
              <a:r>
                <a:rPr lang="en-US" sz="2497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857159" y="1107463"/>
              <a:ext cx="6087888" cy="259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Ağaçları daha hızlı büyüten boosting algoritması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Düşük bellek kullanımı + yüksek hız</a:t>
              </a:r>
            </a:p>
            <a:p>
              <a:pPr marL="473891" lvl="1" indent="-236945" algn="just">
                <a:lnSpc>
                  <a:spcPts val="3072"/>
                </a:lnSpc>
                <a:buFont typeface="Arial"/>
                <a:buChar char="•"/>
              </a:pPr>
              <a:r>
                <a:rPr lang="en-US" sz="2194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Büyük veri için idealdir</a:t>
              </a:r>
            </a:p>
            <a:p>
              <a:pPr algn="just">
                <a:lnSpc>
                  <a:spcPts val="3072"/>
                </a:lnSpc>
                <a:spcBef>
                  <a:spcPct val="0"/>
                </a:spcBef>
              </a:pPr>
              <a:endParaRPr lang="en-US" sz="219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36905" y="2446299"/>
            <a:ext cx="9894297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⚙️ Optuna Optimizasyonu Ve Eğitim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757164" y="5263894"/>
            <a:ext cx="1851066" cy="488356"/>
            <a:chOff x="0" y="0"/>
            <a:chExt cx="2468088" cy="65114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468088" cy="651141"/>
              <a:chOff x="0" y="0"/>
              <a:chExt cx="487524" cy="12862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87524" cy="128621"/>
              </a:xfrm>
              <a:custGeom>
                <a:avLst/>
                <a:gdLst/>
                <a:ahLst/>
                <a:cxnLst/>
                <a:rect l="l" t="t" r="r" b="b"/>
                <a:pathLst>
                  <a:path w="487524" h="128621">
                    <a:moveTo>
                      <a:pt x="64310" y="0"/>
                    </a:moveTo>
                    <a:lnTo>
                      <a:pt x="423213" y="0"/>
                    </a:lnTo>
                    <a:cubicBezTo>
                      <a:pt x="458731" y="0"/>
                      <a:pt x="487524" y="28793"/>
                      <a:pt x="487524" y="64310"/>
                    </a:cubicBezTo>
                    <a:lnTo>
                      <a:pt x="487524" y="64310"/>
                    </a:lnTo>
                    <a:cubicBezTo>
                      <a:pt x="487524" y="81366"/>
                      <a:pt x="480748" y="97724"/>
                      <a:pt x="468688" y="109785"/>
                    </a:cubicBezTo>
                    <a:cubicBezTo>
                      <a:pt x="456627" y="121845"/>
                      <a:pt x="440269" y="128621"/>
                      <a:pt x="423213" y="128621"/>
                    </a:cubicBezTo>
                    <a:lnTo>
                      <a:pt x="64310" y="128621"/>
                    </a:lnTo>
                    <a:cubicBezTo>
                      <a:pt x="47254" y="128621"/>
                      <a:pt x="30897" y="121845"/>
                      <a:pt x="18836" y="109785"/>
                    </a:cubicBezTo>
                    <a:cubicBezTo>
                      <a:pt x="6776" y="97724"/>
                      <a:pt x="0" y="81366"/>
                      <a:pt x="0" y="64310"/>
                    </a:cubicBezTo>
                    <a:lnTo>
                      <a:pt x="0" y="64310"/>
                    </a:lnTo>
                    <a:cubicBezTo>
                      <a:pt x="0" y="47254"/>
                      <a:pt x="6776" y="30897"/>
                      <a:pt x="18836" y="18836"/>
                    </a:cubicBezTo>
                    <a:cubicBezTo>
                      <a:pt x="30897" y="6776"/>
                      <a:pt x="47254" y="0"/>
                      <a:pt x="6431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487524" cy="176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59654" y="-85936"/>
              <a:ext cx="1349522" cy="679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9FAF8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Sonuç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757164" y="6018618"/>
            <a:ext cx="6112748" cy="206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3"/>
              </a:lnSpc>
            </a:pPr>
            <a:r>
              <a: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✔ Her ürün için en iyi model ayrı belirlendi</a:t>
            </a:r>
          </a:p>
          <a:p>
            <a:pPr algn="just">
              <a:lnSpc>
                <a:spcPts val="3163"/>
              </a:lnSpc>
            </a:pPr>
            <a:endParaRPr lang="en-US" sz="279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163"/>
              </a:lnSpc>
            </a:pPr>
            <a:r>
              <a: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✔ Model performansı güvenilir şekilde ölçüldü</a:t>
            </a:r>
          </a:p>
          <a:p>
            <a:pPr algn="just">
              <a:lnSpc>
                <a:spcPts val="3163"/>
              </a:lnSpc>
            </a:pPr>
            <a:endParaRPr lang="en-US" sz="279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163"/>
              </a:lnSpc>
            </a:pPr>
            <a:r>
              <a: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✔ Genellenebilir ve stabil modeller elde edildi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652481" y="4273800"/>
            <a:ext cx="7016762" cy="1838876"/>
            <a:chOff x="0" y="0"/>
            <a:chExt cx="9355683" cy="2451834"/>
          </a:xfrm>
        </p:grpSpPr>
        <p:grpSp>
          <p:nvGrpSpPr>
            <p:cNvPr id="11" name="Group 11"/>
            <p:cNvGrpSpPr/>
            <p:nvPr/>
          </p:nvGrpSpPr>
          <p:grpSpPr>
            <a:xfrm>
              <a:off x="334395" y="0"/>
              <a:ext cx="9021288" cy="1594710"/>
              <a:chOff x="0" y="0"/>
              <a:chExt cx="1781983" cy="31500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81983" cy="315004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15004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89831"/>
                    </a:lnTo>
                    <a:cubicBezTo>
                      <a:pt x="1781983" y="303734"/>
                      <a:pt x="1770712" y="315004"/>
                      <a:pt x="1756809" y="315004"/>
                    </a:cubicBezTo>
                    <a:lnTo>
                      <a:pt x="25173" y="315004"/>
                    </a:lnTo>
                    <a:cubicBezTo>
                      <a:pt x="11271" y="315004"/>
                      <a:pt x="0" y="303734"/>
                      <a:pt x="0" y="289831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1781983" cy="3245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45566"/>
              <a:ext cx="903579" cy="903579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60683" y="-39271"/>
              <a:ext cx="7768711" cy="2491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Veri ürün bazında ayrıldı (wheat, corn, potato)</a:t>
              </a: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%80 eğitim – %20 test bölmesi yapıldı</a:t>
              </a: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Modeller denendi</a:t>
              </a:r>
            </a:p>
            <a:p>
              <a:pPr algn="just">
                <a:lnSpc>
                  <a:spcPts val="2940"/>
                </a:lnSpc>
              </a:pPr>
              <a:endPara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4395" y="365501"/>
              <a:ext cx="308579" cy="81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46"/>
                </a:lnSpc>
              </a:pPr>
              <a:r>
                <a:rPr lang="en-US" sz="33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4186" y="6056718"/>
            <a:ext cx="7104808" cy="1405051"/>
            <a:chOff x="0" y="0"/>
            <a:chExt cx="9473078" cy="1873401"/>
          </a:xfrm>
        </p:grpSpPr>
        <p:grpSp>
          <p:nvGrpSpPr>
            <p:cNvPr id="20" name="Group 20"/>
            <p:cNvGrpSpPr/>
            <p:nvPr/>
          </p:nvGrpSpPr>
          <p:grpSpPr>
            <a:xfrm>
              <a:off x="451789" y="0"/>
              <a:ext cx="9021288" cy="1594710"/>
              <a:chOff x="0" y="0"/>
              <a:chExt cx="1781983" cy="31500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81983" cy="315004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15004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89831"/>
                    </a:lnTo>
                    <a:cubicBezTo>
                      <a:pt x="1781983" y="303734"/>
                      <a:pt x="1770712" y="315004"/>
                      <a:pt x="1756809" y="315004"/>
                    </a:cubicBezTo>
                    <a:lnTo>
                      <a:pt x="25173" y="315004"/>
                    </a:lnTo>
                    <a:cubicBezTo>
                      <a:pt x="11271" y="315004"/>
                      <a:pt x="0" y="303734"/>
                      <a:pt x="0" y="289831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9525"/>
                <a:ext cx="1781983" cy="3245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398633"/>
              <a:ext cx="903579" cy="903579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078078" y="7801"/>
              <a:ext cx="7768711" cy="186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Optuna (30 deneme) ile hiperparametre tuning</a:t>
              </a: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En iyi parametrelerle model yeniden eğitildi</a:t>
              </a: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LR için ölçekleme, diğerleri direkt eğitim</a:t>
              </a:r>
            </a:p>
            <a:p>
              <a:pPr algn="just">
                <a:lnSpc>
                  <a:spcPts val="2154"/>
                </a:lnSpc>
                <a:spcBef>
                  <a:spcPct val="0"/>
                </a:spcBef>
              </a:pPr>
              <a:endPara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395" y="418569"/>
              <a:ext cx="308579" cy="81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46"/>
                </a:lnSpc>
              </a:pPr>
              <a:r>
                <a:rPr lang="en-US" sz="33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652481" y="8061844"/>
            <a:ext cx="7104808" cy="1456282"/>
            <a:chOff x="0" y="0"/>
            <a:chExt cx="9473078" cy="1941709"/>
          </a:xfrm>
        </p:grpSpPr>
        <p:grpSp>
          <p:nvGrpSpPr>
            <p:cNvPr id="29" name="Group 29"/>
            <p:cNvGrpSpPr/>
            <p:nvPr/>
          </p:nvGrpSpPr>
          <p:grpSpPr>
            <a:xfrm>
              <a:off x="451789" y="0"/>
              <a:ext cx="9021288" cy="1594710"/>
              <a:chOff x="0" y="0"/>
              <a:chExt cx="1781983" cy="31500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781983" cy="315004"/>
              </a:xfrm>
              <a:custGeom>
                <a:avLst/>
                <a:gdLst/>
                <a:ahLst/>
                <a:cxnLst/>
                <a:rect l="l" t="t" r="r" b="b"/>
                <a:pathLst>
                  <a:path w="1781983" h="315004">
                    <a:moveTo>
                      <a:pt x="25173" y="0"/>
                    </a:moveTo>
                    <a:lnTo>
                      <a:pt x="1756809" y="0"/>
                    </a:lnTo>
                    <a:cubicBezTo>
                      <a:pt x="1770712" y="0"/>
                      <a:pt x="1781983" y="11271"/>
                      <a:pt x="1781983" y="25173"/>
                    </a:cubicBezTo>
                    <a:lnTo>
                      <a:pt x="1781983" y="289831"/>
                    </a:lnTo>
                    <a:cubicBezTo>
                      <a:pt x="1781983" y="303734"/>
                      <a:pt x="1770712" y="315004"/>
                      <a:pt x="1756809" y="315004"/>
                    </a:cubicBezTo>
                    <a:lnTo>
                      <a:pt x="25173" y="315004"/>
                    </a:lnTo>
                    <a:cubicBezTo>
                      <a:pt x="11271" y="315004"/>
                      <a:pt x="0" y="303734"/>
                      <a:pt x="0" y="289831"/>
                    </a:cubicBezTo>
                    <a:lnTo>
                      <a:pt x="0" y="25173"/>
                    </a:lnTo>
                    <a:cubicBezTo>
                      <a:pt x="0" y="11271"/>
                      <a:pt x="11271" y="0"/>
                      <a:pt x="25173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1781983" cy="3245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398633"/>
              <a:ext cx="903579" cy="903579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253564" y="-54096"/>
              <a:ext cx="7768711" cy="199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Performans metrikleri:</a:t>
              </a:r>
            </a:p>
            <a:p>
              <a:pPr marL="453390" lvl="1" indent="-226695" algn="just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R², RMSE, MAE, MAPE</a:t>
              </a: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 5-Fold Cross Validation</a:t>
              </a: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395" y="418569"/>
              <a:ext cx="308579" cy="81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46"/>
                </a:lnSpc>
              </a:pPr>
              <a:r>
                <a:rPr lang="en-US" sz="3390">
                  <a:solidFill>
                    <a:srgbClr val="F8F9F5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-122150" y="6252199"/>
            <a:ext cx="1841015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751038" y="3011530"/>
            <a:ext cx="555325" cy="556337"/>
          </a:xfrm>
          <a:custGeom>
            <a:avLst/>
            <a:gdLst/>
            <a:ahLst/>
            <a:cxnLst/>
            <a:rect l="l" t="t" r="r" b="b"/>
            <a:pathLst>
              <a:path w="555325" h="556337">
                <a:moveTo>
                  <a:pt x="0" y="0"/>
                </a:moveTo>
                <a:lnTo>
                  <a:pt x="555324" y="0"/>
                </a:lnTo>
                <a:lnTo>
                  <a:pt x="555324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3717784" y="6252199"/>
            <a:ext cx="232685" cy="766329"/>
          </a:xfrm>
          <a:custGeom>
            <a:avLst/>
            <a:gdLst/>
            <a:ahLst/>
            <a:cxnLst/>
            <a:rect l="l" t="t" r="r" b="b"/>
            <a:pathLst>
              <a:path w="232685" h="766329">
                <a:moveTo>
                  <a:pt x="0" y="0"/>
                </a:moveTo>
                <a:lnTo>
                  <a:pt x="232685" y="0"/>
                </a:lnTo>
                <a:lnTo>
                  <a:pt x="232685" y="766329"/>
                </a:lnTo>
                <a:lnTo>
                  <a:pt x="0" y="7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20546" y="2781186"/>
            <a:ext cx="5451725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Model Değerlendirme</a:t>
            </a:r>
          </a:p>
        </p:txBody>
      </p:sp>
      <p:sp>
        <p:nvSpPr>
          <p:cNvPr id="7" name="Freeform 7"/>
          <p:cNvSpPr/>
          <p:nvPr/>
        </p:nvSpPr>
        <p:spPr>
          <a:xfrm rot="-10800000">
            <a:off x="9149301" y="6252199"/>
            <a:ext cx="232685" cy="766329"/>
          </a:xfrm>
          <a:custGeom>
            <a:avLst/>
            <a:gdLst/>
            <a:ahLst/>
            <a:cxnLst/>
            <a:rect l="l" t="t" r="r" b="b"/>
            <a:pathLst>
              <a:path w="232685" h="766329">
                <a:moveTo>
                  <a:pt x="0" y="0"/>
                </a:moveTo>
                <a:lnTo>
                  <a:pt x="232686" y="0"/>
                </a:lnTo>
                <a:lnTo>
                  <a:pt x="232686" y="766329"/>
                </a:lnTo>
                <a:lnTo>
                  <a:pt x="0" y="7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4854776" y="6252199"/>
            <a:ext cx="232685" cy="766329"/>
          </a:xfrm>
          <a:custGeom>
            <a:avLst/>
            <a:gdLst/>
            <a:ahLst/>
            <a:cxnLst/>
            <a:rect l="l" t="t" r="r" b="b"/>
            <a:pathLst>
              <a:path w="232685" h="766329">
                <a:moveTo>
                  <a:pt x="0" y="0"/>
                </a:moveTo>
                <a:lnTo>
                  <a:pt x="232686" y="0"/>
                </a:lnTo>
                <a:lnTo>
                  <a:pt x="232686" y="766329"/>
                </a:lnTo>
                <a:lnTo>
                  <a:pt x="0" y="7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62426" y="7342378"/>
            <a:ext cx="4343400" cy="2303245"/>
            <a:chOff x="0" y="0"/>
            <a:chExt cx="1143941" cy="6066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3941" cy="606616"/>
            </a:xfrm>
            <a:custGeom>
              <a:avLst/>
              <a:gdLst/>
              <a:ahLst/>
              <a:cxnLst/>
              <a:rect l="l" t="t" r="r" b="b"/>
              <a:pathLst>
                <a:path w="1143941" h="606616">
                  <a:moveTo>
                    <a:pt x="39214" y="0"/>
                  </a:moveTo>
                  <a:lnTo>
                    <a:pt x="1104727" y="0"/>
                  </a:lnTo>
                  <a:cubicBezTo>
                    <a:pt x="1126384" y="0"/>
                    <a:pt x="1143941" y="17557"/>
                    <a:pt x="1143941" y="39214"/>
                  </a:cubicBezTo>
                  <a:lnTo>
                    <a:pt x="1143941" y="567402"/>
                  </a:lnTo>
                  <a:cubicBezTo>
                    <a:pt x="1143941" y="589059"/>
                    <a:pt x="1126384" y="606616"/>
                    <a:pt x="1104727" y="606616"/>
                  </a:cubicBezTo>
                  <a:lnTo>
                    <a:pt x="39214" y="606616"/>
                  </a:lnTo>
                  <a:cubicBezTo>
                    <a:pt x="17557" y="606616"/>
                    <a:pt x="0" y="589059"/>
                    <a:pt x="0" y="567402"/>
                  </a:cubicBezTo>
                  <a:lnTo>
                    <a:pt x="0" y="39214"/>
                  </a:lnTo>
                  <a:cubicBezTo>
                    <a:pt x="0" y="17557"/>
                    <a:pt x="17557" y="0"/>
                    <a:pt x="39214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143941" cy="616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49100" y="7718649"/>
            <a:ext cx="3818360" cy="126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R² ,RMSE, MAE, MAPE metriklerine gore degerlendirildi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93944" y="7315914"/>
            <a:ext cx="4343400" cy="2303245"/>
            <a:chOff x="0" y="0"/>
            <a:chExt cx="1143941" cy="6066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941" cy="606616"/>
            </a:xfrm>
            <a:custGeom>
              <a:avLst/>
              <a:gdLst/>
              <a:ahLst/>
              <a:cxnLst/>
              <a:rect l="l" t="t" r="r" b="b"/>
              <a:pathLst>
                <a:path w="1143941" h="606616">
                  <a:moveTo>
                    <a:pt x="39214" y="0"/>
                  </a:moveTo>
                  <a:lnTo>
                    <a:pt x="1104727" y="0"/>
                  </a:lnTo>
                  <a:cubicBezTo>
                    <a:pt x="1126384" y="0"/>
                    <a:pt x="1143941" y="17557"/>
                    <a:pt x="1143941" y="39214"/>
                  </a:cubicBezTo>
                  <a:lnTo>
                    <a:pt x="1143941" y="567402"/>
                  </a:lnTo>
                  <a:cubicBezTo>
                    <a:pt x="1143941" y="589059"/>
                    <a:pt x="1126384" y="606616"/>
                    <a:pt x="1104727" y="606616"/>
                  </a:cubicBezTo>
                  <a:lnTo>
                    <a:pt x="39214" y="606616"/>
                  </a:lnTo>
                  <a:cubicBezTo>
                    <a:pt x="17557" y="606616"/>
                    <a:pt x="0" y="589059"/>
                    <a:pt x="0" y="567402"/>
                  </a:cubicBezTo>
                  <a:lnTo>
                    <a:pt x="0" y="39214"/>
                  </a:lnTo>
                  <a:cubicBezTo>
                    <a:pt x="0" y="17557"/>
                    <a:pt x="17557" y="0"/>
                    <a:pt x="39214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43941" cy="616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356464" y="7974125"/>
            <a:ext cx="3818360" cy="463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Cross-validation kullanıldı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799419" y="7315914"/>
            <a:ext cx="4343400" cy="2303245"/>
            <a:chOff x="0" y="0"/>
            <a:chExt cx="1143941" cy="6066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3941" cy="606616"/>
            </a:xfrm>
            <a:custGeom>
              <a:avLst/>
              <a:gdLst/>
              <a:ahLst/>
              <a:cxnLst/>
              <a:rect l="l" t="t" r="r" b="b"/>
              <a:pathLst>
                <a:path w="1143941" h="606616">
                  <a:moveTo>
                    <a:pt x="39214" y="0"/>
                  </a:moveTo>
                  <a:lnTo>
                    <a:pt x="1104727" y="0"/>
                  </a:lnTo>
                  <a:cubicBezTo>
                    <a:pt x="1126384" y="0"/>
                    <a:pt x="1143941" y="17557"/>
                    <a:pt x="1143941" y="39214"/>
                  </a:cubicBezTo>
                  <a:lnTo>
                    <a:pt x="1143941" y="567402"/>
                  </a:lnTo>
                  <a:cubicBezTo>
                    <a:pt x="1143941" y="589059"/>
                    <a:pt x="1126384" y="606616"/>
                    <a:pt x="1104727" y="606616"/>
                  </a:cubicBezTo>
                  <a:lnTo>
                    <a:pt x="39214" y="606616"/>
                  </a:lnTo>
                  <a:cubicBezTo>
                    <a:pt x="17557" y="606616"/>
                    <a:pt x="0" y="589059"/>
                    <a:pt x="0" y="567402"/>
                  </a:cubicBezTo>
                  <a:lnTo>
                    <a:pt x="0" y="39214"/>
                  </a:lnTo>
                  <a:cubicBezTo>
                    <a:pt x="0" y="17557"/>
                    <a:pt x="17557" y="0"/>
                    <a:pt x="39214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143941" cy="616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061939" y="7688186"/>
            <a:ext cx="3818360" cy="109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89"/>
              </a:lnSpc>
            </a:pPr>
            <a:endParaRPr/>
          </a:p>
          <a:p>
            <a:pPr algn="ctr">
              <a:lnSpc>
                <a:spcPts val="3163"/>
              </a:lnSpc>
            </a:pPr>
            <a:r>
              <a:rPr lang="en-US" sz="279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Overfitting kontrol edildi</a:t>
            </a:r>
          </a:p>
          <a:p>
            <a:pPr algn="ctr">
              <a:lnSpc>
                <a:spcPts val="3163"/>
              </a:lnSpc>
            </a:pPr>
            <a:endParaRPr lang="en-US" sz="279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044577" y="7018528"/>
            <a:ext cx="463928" cy="46392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206848" y="7011505"/>
            <a:ext cx="158435" cy="4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389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477362" y="7006500"/>
            <a:ext cx="463928" cy="46392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639633" y="6999478"/>
            <a:ext cx="158435" cy="4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389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308428" y="6994473"/>
            <a:ext cx="463928" cy="46392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470699" y="6987450"/>
            <a:ext cx="158435" cy="4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389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3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320" y="1325687"/>
            <a:ext cx="9332766" cy="5708464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520546" y="4183540"/>
            <a:ext cx="4429031" cy="166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78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Genel olarak</a:t>
            </a:r>
          </a:p>
          <a:p>
            <a:pPr algn="ctr">
              <a:lnSpc>
                <a:spcPts val="3145"/>
              </a:lnSpc>
            </a:pPr>
            <a:r>
              <a:rPr lang="en-US" sz="278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✔ Boosting modeller daha başarılı</a:t>
            </a:r>
          </a:p>
          <a:p>
            <a:pPr algn="ctr">
              <a:lnSpc>
                <a:spcPts val="3145"/>
              </a:lnSpc>
            </a:pPr>
            <a:r>
              <a:rPr lang="en-US" sz="278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✔ Model stabil ve genellenebilir</a:t>
            </a:r>
          </a:p>
          <a:p>
            <a:pPr algn="ctr">
              <a:lnSpc>
                <a:spcPts val="3145"/>
              </a:lnSpc>
            </a:pPr>
            <a:endParaRPr lang="en-US" sz="2783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V="1">
            <a:off x="630063" y="2555390"/>
            <a:ext cx="1703120" cy="566674"/>
          </a:xfrm>
          <a:custGeom>
            <a:avLst/>
            <a:gdLst/>
            <a:ahLst/>
            <a:cxnLst/>
            <a:rect l="l" t="t" r="r" b="b"/>
            <a:pathLst>
              <a:path w="1703120" h="566674">
                <a:moveTo>
                  <a:pt x="0" y="566674"/>
                </a:moveTo>
                <a:lnTo>
                  <a:pt x="1703119" y="566674"/>
                </a:lnTo>
                <a:lnTo>
                  <a:pt x="1703119" y="0"/>
                </a:lnTo>
                <a:lnTo>
                  <a:pt x="0" y="0"/>
                </a:lnTo>
                <a:lnTo>
                  <a:pt x="0" y="5666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3002781"/>
            <a:ext cx="8257740" cy="6673662"/>
          </a:xfrm>
          <a:custGeom>
            <a:avLst/>
            <a:gdLst/>
            <a:ahLst/>
            <a:cxnLst/>
            <a:rect l="l" t="t" r="r" b="b"/>
            <a:pathLst>
              <a:path w="8257740" h="6673662">
                <a:moveTo>
                  <a:pt x="0" y="0"/>
                </a:moveTo>
                <a:lnTo>
                  <a:pt x="8257740" y="0"/>
                </a:lnTo>
                <a:lnTo>
                  <a:pt x="8257740" y="6673662"/>
                </a:lnTo>
                <a:lnTo>
                  <a:pt x="0" y="6673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0491" y="2487818"/>
            <a:ext cx="6643509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Prediction vs Real Analizi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0063" y="5353025"/>
            <a:ext cx="8002437" cy="224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7"/>
              </a:lnSpc>
            </a:pPr>
            <a:r>
              <a:rPr lang="en-US" sz="2548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Prediction vs Real: Noktaların diagonal boyunca yoğunlaşması → modelin yüksek doğrulukla tahmin yaptığını gösterir Gerçek ve tahmin edilen değerlerin uyumunu görmek icin uygulanmıştır.</a:t>
            </a: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  <a:spcBef>
                <a:spcPct val="0"/>
              </a:spcBef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V="1">
            <a:off x="630063" y="2555390"/>
            <a:ext cx="1703120" cy="566674"/>
          </a:xfrm>
          <a:custGeom>
            <a:avLst/>
            <a:gdLst/>
            <a:ahLst/>
            <a:cxnLst/>
            <a:rect l="l" t="t" r="r" b="b"/>
            <a:pathLst>
              <a:path w="1703120" h="566674">
                <a:moveTo>
                  <a:pt x="0" y="566674"/>
                </a:moveTo>
                <a:lnTo>
                  <a:pt x="1703119" y="566674"/>
                </a:lnTo>
                <a:lnTo>
                  <a:pt x="1703119" y="0"/>
                </a:lnTo>
                <a:lnTo>
                  <a:pt x="0" y="0"/>
                </a:lnTo>
                <a:lnTo>
                  <a:pt x="0" y="5666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57167" y="2838727"/>
            <a:ext cx="8590066" cy="6684577"/>
          </a:xfrm>
          <a:custGeom>
            <a:avLst/>
            <a:gdLst/>
            <a:ahLst/>
            <a:cxnLst/>
            <a:rect l="l" t="t" r="r" b="b"/>
            <a:pathLst>
              <a:path w="8590066" h="6684577">
                <a:moveTo>
                  <a:pt x="0" y="0"/>
                </a:moveTo>
                <a:lnTo>
                  <a:pt x="8590066" y="0"/>
                </a:lnTo>
                <a:lnTo>
                  <a:pt x="8590066" y="6684577"/>
                </a:lnTo>
                <a:lnTo>
                  <a:pt x="0" y="6684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0491" y="2487818"/>
            <a:ext cx="6132009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Residual Plot Analizi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0063" y="5353025"/>
            <a:ext cx="8002437" cy="358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7"/>
              </a:lnSpc>
            </a:pPr>
            <a:r>
              <a:rPr lang="en-US" sz="2548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Residual Plot: Hataların 0 etrafında rastgele dağılması → sistematik hata (bias) olmadığını gösterir .Tahmin hatalarının dağılımı ve sistematik hata kontrolünu göstermek icin uygulanmıştır.</a:t>
            </a: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  <a:spcBef>
                <a:spcPct val="0"/>
              </a:spcBef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V="1">
            <a:off x="177140" y="2423556"/>
            <a:ext cx="1703120" cy="566674"/>
          </a:xfrm>
          <a:custGeom>
            <a:avLst/>
            <a:gdLst/>
            <a:ahLst/>
            <a:cxnLst/>
            <a:rect l="l" t="t" r="r" b="b"/>
            <a:pathLst>
              <a:path w="1703120" h="566674">
                <a:moveTo>
                  <a:pt x="0" y="566674"/>
                </a:moveTo>
                <a:lnTo>
                  <a:pt x="1703120" y="566674"/>
                </a:lnTo>
                <a:lnTo>
                  <a:pt x="1703120" y="0"/>
                </a:lnTo>
                <a:lnTo>
                  <a:pt x="0" y="0"/>
                </a:lnTo>
                <a:lnTo>
                  <a:pt x="0" y="5666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3433764"/>
            <a:ext cx="8185445" cy="6627006"/>
          </a:xfrm>
          <a:custGeom>
            <a:avLst/>
            <a:gdLst/>
            <a:ahLst/>
            <a:cxnLst/>
            <a:rect l="l" t="t" r="r" b="b"/>
            <a:pathLst>
              <a:path w="8185445" h="6627006">
                <a:moveTo>
                  <a:pt x="0" y="0"/>
                </a:moveTo>
                <a:lnTo>
                  <a:pt x="8185445" y="0"/>
                </a:lnTo>
                <a:lnTo>
                  <a:pt x="8185445" y="6627006"/>
                </a:lnTo>
                <a:lnTo>
                  <a:pt x="0" y="6627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58037" y="2489179"/>
            <a:ext cx="7719195" cy="201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Residual Distribution Analizi</a:t>
            </a:r>
          </a:p>
          <a:p>
            <a:pPr algn="l">
              <a:lnSpc>
                <a:spcPts val="7700"/>
              </a:lnSpc>
            </a:pPr>
            <a:endParaRPr lang="en-US" sz="550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30063" y="5353025"/>
            <a:ext cx="8002437" cy="2693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7"/>
              </a:lnSpc>
            </a:pPr>
            <a:r>
              <a:rPr lang="en-US" sz="2548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Residual Distribution: Hataların yaklaşık normal dağılım göstermesi → modelin stabil ve güvenilir olduğunu destekler. Hataların genel dağılım yapısı  göstermek icin uygulanmıştır.</a:t>
            </a: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567"/>
              </a:lnSpc>
              <a:spcBef>
                <a:spcPct val="0"/>
              </a:spcBef>
            </a:pPr>
            <a:endParaRPr lang="en-US" sz="2548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V="1">
            <a:off x="630063" y="2555390"/>
            <a:ext cx="1703120" cy="566674"/>
          </a:xfrm>
          <a:custGeom>
            <a:avLst/>
            <a:gdLst/>
            <a:ahLst/>
            <a:cxnLst/>
            <a:rect l="l" t="t" r="r" b="b"/>
            <a:pathLst>
              <a:path w="1703120" h="566674">
                <a:moveTo>
                  <a:pt x="0" y="566674"/>
                </a:moveTo>
                <a:lnTo>
                  <a:pt x="1703119" y="566674"/>
                </a:lnTo>
                <a:lnTo>
                  <a:pt x="1703119" y="0"/>
                </a:lnTo>
                <a:lnTo>
                  <a:pt x="0" y="0"/>
                </a:lnTo>
                <a:lnTo>
                  <a:pt x="0" y="5666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936513" y="3613338"/>
            <a:ext cx="8877817" cy="6092620"/>
          </a:xfrm>
          <a:custGeom>
            <a:avLst/>
            <a:gdLst/>
            <a:ahLst/>
            <a:cxnLst/>
            <a:rect l="l" t="t" r="r" b="b"/>
            <a:pathLst>
              <a:path w="8877817" h="6092620">
                <a:moveTo>
                  <a:pt x="0" y="0"/>
                </a:moveTo>
                <a:lnTo>
                  <a:pt x="8877817" y="0"/>
                </a:lnTo>
                <a:lnTo>
                  <a:pt x="8877817" y="6092620"/>
                </a:lnTo>
                <a:lnTo>
                  <a:pt x="0" y="6092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0491" y="2487818"/>
            <a:ext cx="6837571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Feature Importance Analizi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0063" y="4642135"/>
            <a:ext cx="7745873" cy="38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7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En önemli değişkenler:</a:t>
            </a:r>
          </a:p>
          <a:p>
            <a:pPr marL="583708" lvl="1" indent="-291854" algn="l">
              <a:lnSpc>
                <a:spcPts val="3785"/>
              </a:lnSpc>
              <a:buFont typeface="Arial"/>
              <a:buChar char="•"/>
            </a:pPr>
            <a:r>
              <a:rPr lang="en-US" sz="27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plant_count, GDD, pesticides, soil_total</a:t>
            </a:r>
          </a:p>
          <a:p>
            <a:pPr algn="l">
              <a:lnSpc>
                <a:spcPts val="3785"/>
              </a:lnSpc>
            </a:pPr>
            <a:r>
              <a:rPr lang="en-US" sz="27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Orta seviyede etkili değişkenler:</a:t>
            </a:r>
          </a:p>
          <a:p>
            <a:pPr marL="583708" lvl="1" indent="-291854" algn="l">
              <a:lnSpc>
                <a:spcPts val="3785"/>
              </a:lnSpc>
              <a:buFont typeface="Arial"/>
              <a:buChar char="•"/>
            </a:pPr>
            <a:r>
              <a:rPr lang="en-US" sz="27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solar_radiation, avg_temp, soil_moist, soil_n</a:t>
            </a:r>
          </a:p>
          <a:p>
            <a:pPr algn="l">
              <a:lnSpc>
                <a:spcPts val="3785"/>
              </a:lnSpc>
            </a:pPr>
            <a:r>
              <a:rPr lang="en-US" sz="27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Düşük etkili değişkenler:</a:t>
            </a:r>
          </a:p>
          <a:p>
            <a:pPr marL="583708" lvl="1" indent="-291854" algn="l">
              <a:lnSpc>
                <a:spcPts val="3785"/>
              </a:lnSpc>
              <a:buFont typeface="Arial"/>
              <a:buChar char="•"/>
            </a:pPr>
            <a:r>
              <a:rPr lang="en-US" sz="2703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Year, humidity, Area, wind_speed</a:t>
            </a:r>
          </a:p>
          <a:p>
            <a:pPr algn="just">
              <a:lnSpc>
                <a:spcPts val="3785"/>
              </a:lnSpc>
              <a:spcBef>
                <a:spcPct val="0"/>
              </a:spcBef>
            </a:pPr>
            <a:endParaRPr lang="en-US" sz="2703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3785"/>
              </a:lnSpc>
              <a:spcBef>
                <a:spcPct val="0"/>
              </a:spcBef>
            </a:pPr>
            <a:endParaRPr lang="en-US" sz="2703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flipV="1">
            <a:off x="630063" y="2555390"/>
            <a:ext cx="1703120" cy="566674"/>
          </a:xfrm>
          <a:custGeom>
            <a:avLst/>
            <a:gdLst/>
            <a:ahLst/>
            <a:cxnLst/>
            <a:rect l="l" t="t" r="r" b="b"/>
            <a:pathLst>
              <a:path w="1703120" h="566674">
                <a:moveTo>
                  <a:pt x="0" y="566674"/>
                </a:moveTo>
                <a:lnTo>
                  <a:pt x="1703119" y="566674"/>
                </a:lnTo>
                <a:lnTo>
                  <a:pt x="1703119" y="0"/>
                </a:lnTo>
                <a:lnTo>
                  <a:pt x="0" y="0"/>
                </a:lnTo>
                <a:lnTo>
                  <a:pt x="0" y="5666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15859" y="2402706"/>
            <a:ext cx="6046170" cy="7384636"/>
          </a:xfrm>
          <a:custGeom>
            <a:avLst/>
            <a:gdLst/>
            <a:ahLst/>
            <a:cxnLst/>
            <a:rect l="l" t="t" r="r" b="b"/>
            <a:pathLst>
              <a:path w="6046170" h="7384636">
                <a:moveTo>
                  <a:pt x="0" y="0"/>
                </a:moveTo>
                <a:lnTo>
                  <a:pt x="6046170" y="0"/>
                </a:lnTo>
                <a:lnTo>
                  <a:pt x="6046170" y="7384636"/>
                </a:lnTo>
                <a:lnTo>
                  <a:pt x="0" y="7384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0491" y="2487818"/>
            <a:ext cx="5358503" cy="10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Shap Analizi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9265" y="4480210"/>
            <a:ext cx="9308306" cy="421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85"/>
              </a:lnSpc>
            </a:pPr>
            <a:r>
              <a:rPr lang="en-US" sz="298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En etkili özellikler:</a:t>
            </a:r>
          </a:p>
          <a:p>
            <a:pPr marL="645502" lvl="1" indent="-322751" algn="l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plant_count, GDD, pesticides, soil_total</a:t>
            </a:r>
          </a:p>
          <a:p>
            <a:pPr algn="just">
              <a:lnSpc>
                <a:spcPts val="4185"/>
              </a:lnSpc>
            </a:pPr>
            <a:r>
              <a:rPr lang="en-US" sz="298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</a:p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Yüksek değerler (kırmızı) genellikle tahmini artırıcı etki yapmaktadır </a:t>
            </a:r>
          </a:p>
          <a:p>
            <a:pPr algn="l">
              <a:lnSpc>
                <a:spcPts val="4185"/>
              </a:lnSpc>
            </a:pPr>
            <a:endParaRPr lang="en-US" sz="298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l">
              <a:lnSpc>
                <a:spcPts val="4185"/>
              </a:lnSpc>
            </a:pPr>
            <a:r>
              <a:rPr lang="en-US" sz="2989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Düşük değerler (mavi) ise tahmini azaltıcı etki göstermektedir </a:t>
            </a:r>
          </a:p>
          <a:p>
            <a:pPr algn="just">
              <a:lnSpc>
                <a:spcPts val="4185"/>
              </a:lnSpc>
            </a:pPr>
            <a:endParaRPr lang="en-US" sz="298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just">
              <a:lnSpc>
                <a:spcPts val="4185"/>
              </a:lnSpc>
              <a:spcBef>
                <a:spcPct val="0"/>
              </a:spcBef>
            </a:pPr>
            <a:endParaRPr lang="en-US" sz="2989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-122150" y="6252199"/>
            <a:ext cx="1841015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751038" y="2481899"/>
            <a:ext cx="555325" cy="556337"/>
          </a:xfrm>
          <a:custGeom>
            <a:avLst/>
            <a:gdLst/>
            <a:ahLst/>
            <a:cxnLst/>
            <a:rect l="l" t="t" r="r" b="b"/>
            <a:pathLst>
              <a:path w="555325" h="556337">
                <a:moveTo>
                  <a:pt x="0" y="0"/>
                </a:moveTo>
                <a:lnTo>
                  <a:pt x="555324" y="0"/>
                </a:lnTo>
                <a:lnTo>
                  <a:pt x="555324" y="556337"/>
                </a:lnTo>
                <a:lnTo>
                  <a:pt x="0" y="556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3717784" y="6252199"/>
            <a:ext cx="232685" cy="766329"/>
          </a:xfrm>
          <a:custGeom>
            <a:avLst/>
            <a:gdLst/>
            <a:ahLst/>
            <a:cxnLst/>
            <a:rect l="l" t="t" r="r" b="b"/>
            <a:pathLst>
              <a:path w="232685" h="766329">
                <a:moveTo>
                  <a:pt x="0" y="0"/>
                </a:moveTo>
                <a:lnTo>
                  <a:pt x="232685" y="0"/>
                </a:lnTo>
                <a:lnTo>
                  <a:pt x="232685" y="766329"/>
                </a:lnTo>
                <a:lnTo>
                  <a:pt x="0" y="7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94610" y="2291399"/>
            <a:ext cx="5861853" cy="263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3"/>
              </a:lnSpc>
            </a:pPr>
            <a:r>
              <a:rPr lang="en-US" sz="4852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Feature Selection ve Model Karşılaştırması</a:t>
            </a:r>
          </a:p>
          <a:p>
            <a:pPr algn="ctr">
              <a:lnSpc>
                <a:spcPts val="6793"/>
              </a:lnSpc>
            </a:pPr>
            <a:endParaRPr lang="en-US" sz="4852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7" name="Freeform 7"/>
          <p:cNvSpPr/>
          <p:nvPr/>
        </p:nvSpPr>
        <p:spPr>
          <a:xfrm rot="-10800000">
            <a:off x="9149301" y="6252199"/>
            <a:ext cx="232685" cy="766329"/>
          </a:xfrm>
          <a:custGeom>
            <a:avLst/>
            <a:gdLst/>
            <a:ahLst/>
            <a:cxnLst/>
            <a:rect l="l" t="t" r="r" b="b"/>
            <a:pathLst>
              <a:path w="232685" h="766329">
                <a:moveTo>
                  <a:pt x="0" y="0"/>
                </a:moveTo>
                <a:lnTo>
                  <a:pt x="232686" y="0"/>
                </a:lnTo>
                <a:lnTo>
                  <a:pt x="232686" y="766329"/>
                </a:lnTo>
                <a:lnTo>
                  <a:pt x="0" y="7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4854776" y="6252199"/>
            <a:ext cx="232685" cy="766329"/>
          </a:xfrm>
          <a:custGeom>
            <a:avLst/>
            <a:gdLst/>
            <a:ahLst/>
            <a:cxnLst/>
            <a:rect l="l" t="t" r="r" b="b"/>
            <a:pathLst>
              <a:path w="232685" h="766329">
                <a:moveTo>
                  <a:pt x="0" y="0"/>
                </a:moveTo>
                <a:lnTo>
                  <a:pt x="232686" y="0"/>
                </a:lnTo>
                <a:lnTo>
                  <a:pt x="232686" y="766329"/>
                </a:lnTo>
                <a:lnTo>
                  <a:pt x="0" y="7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62426" y="7226437"/>
            <a:ext cx="4343400" cy="2303245"/>
            <a:chOff x="0" y="0"/>
            <a:chExt cx="1143941" cy="6066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3941" cy="606616"/>
            </a:xfrm>
            <a:custGeom>
              <a:avLst/>
              <a:gdLst/>
              <a:ahLst/>
              <a:cxnLst/>
              <a:rect l="l" t="t" r="r" b="b"/>
              <a:pathLst>
                <a:path w="1143941" h="606616">
                  <a:moveTo>
                    <a:pt x="39214" y="0"/>
                  </a:moveTo>
                  <a:lnTo>
                    <a:pt x="1104727" y="0"/>
                  </a:lnTo>
                  <a:cubicBezTo>
                    <a:pt x="1126384" y="0"/>
                    <a:pt x="1143941" y="17557"/>
                    <a:pt x="1143941" y="39214"/>
                  </a:cubicBezTo>
                  <a:lnTo>
                    <a:pt x="1143941" y="567402"/>
                  </a:lnTo>
                  <a:cubicBezTo>
                    <a:pt x="1143941" y="589059"/>
                    <a:pt x="1126384" y="606616"/>
                    <a:pt x="1104727" y="606616"/>
                  </a:cubicBezTo>
                  <a:lnTo>
                    <a:pt x="39214" y="606616"/>
                  </a:lnTo>
                  <a:cubicBezTo>
                    <a:pt x="17557" y="606616"/>
                    <a:pt x="0" y="589059"/>
                    <a:pt x="0" y="567402"/>
                  </a:cubicBezTo>
                  <a:lnTo>
                    <a:pt x="0" y="39214"/>
                  </a:lnTo>
                  <a:cubicBezTo>
                    <a:pt x="0" y="17557"/>
                    <a:pt x="17557" y="0"/>
                    <a:pt x="39214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143941" cy="616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49100" y="7728174"/>
            <a:ext cx="3818360" cy="15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Final Feature Set</a:t>
            </a:r>
          </a:p>
          <a:p>
            <a:pPr algn="ctr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marL="380093" lvl="1" indent="-190047" algn="l">
              <a:lnSpc>
                <a:spcPts val="1989"/>
              </a:lnSpc>
              <a:buFont typeface="Arial"/>
              <a:buChar char="•"/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model importance</a:t>
            </a:r>
          </a:p>
          <a:p>
            <a:pPr marL="380093" lvl="1" indent="-190047" algn="l">
              <a:lnSpc>
                <a:spcPts val="1989"/>
              </a:lnSpc>
              <a:buFont typeface="Arial"/>
              <a:buChar char="•"/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SHAP importance</a:t>
            </a:r>
          </a:p>
          <a:p>
            <a:pPr algn="l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birleşimi ile oluşturuldu</a:t>
            </a:r>
          </a:p>
          <a:p>
            <a:pPr algn="ctr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7093944" y="7315914"/>
            <a:ext cx="4343400" cy="2303245"/>
            <a:chOff x="0" y="0"/>
            <a:chExt cx="1143941" cy="6066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941" cy="606616"/>
            </a:xfrm>
            <a:custGeom>
              <a:avLst/>
              <a:gdLst/>
              <a:ahLst/>
              <a:cxnLst/>
              <a:rect l="l" t="t" r="r" b="b"/>
              <a:pathLst>
                <a:path w="1143941" h="606616">
                  <a:moveTo>
                    <a:pt x="39214" y="0"/>
                  </a:moveTo>
                  <a:lnTo>
                    <a:pt x="1104727" y="0"/>
                  </a:lnTo>
                  <a:cubicBezTo>
                    <a:pt x="1126384" y="0"/>
                    <a:pt x="1143941" y="17557"/>
                    <a:pt x="1143941" y="39214"/>
                  </a:cubicBezTo>
                  <a:lnTo>
                    <a:pt x="1143941" y="567402"/>
                  </a:lnTo>
                  <a:cubicBezTo>
                    <a:pt x="1143941" y="589059"/>
                    <a:pt x="1126384" y="606616"/>
                    <a:pt x="1104727" y="606616"/>
                  </a:cubicBezTo>
                  <a:lnTo>
                    <a:pt x="39214" y="606616"/>
                  </a:lnTo>
                  <a:cubicBezTo>
                    <a:pt x="17557" y="606616"/>
                    <a:pt x="0" y="589059"/>
                    <a:pt x="0" y="567402"/>
                  </a:cubicBezTo>
                  <a:lnTo>
                    <a:pt x="0" y="39214"/>
                  </a:lnTo>
                  <a:cubicBezTo>
                    <a:pt x="0" y="17557"/>
                    <a:pt x="17557" y="0"/>
                    <a:pt x="39214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43941" cy="616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356464" y="7728174"/>
            <a:ext cx="3818360" cy="15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Model Karşılaştırma</a:t>
            </a:r>
          </a:p>
          <a:p>
            <a:pPr algn="ctr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marL="380093" lvl="1" indent="-190047" algn="l">
              <a:lnSpc>
                <a:spcPts val="1989"/>
              </a:lnSpc>
              <a:buFont typeface="Arial"/>
              <a:buChar char="•"/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Full model (tüm feature’lar)</a:t>
            </a:r>
          </a:p>
          <a:p>
            <a:pPr marL="380093" lvl="1" indent="-190047" algn="l">
              <a:lnSpc>
                <a:spcPts val="1989"/>
              </a:lnSpc>
              <a:buFont typeface="Arial"/>
              <a:buChar char="•"/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Reduced model (seçilen feature’lar)</a:t>
            </a:r>
          </a:p>
          <a:p>
            <a:pPr algn="l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R² skorları karşılaştırıldı</a:t>
            </a:r>
          </a:p>
          <a:p>
            <a:pPr algn="ctr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2799419" y="7315914"/>
            <a:ext cx="4459881" cy="2303245"/>
            <a:chOff x="0" y="0"/>
            <a:chExt cx="1174619" cy="6066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4619" cy="606616"/>
            </a:xfrm>
            <a:custGeom>
              <a:avLst/>
              <a:gdLst/>
              <a:ahLst/>
              <a:cxnLst/>
              <a:rect l="l" t="t" r="r" b="b"/>
              <a:pathLst>
                <a:path w="1174619" h="606616">
                  <a:moveTo>
                    <a:pt x="38190" y="0"/>
                  </a:moveTo>
                  <a:lnTo>
                    <a:pt x="1136429" y="0"/>
                  </a:lnTo>
                  <a:cubicBezTo>
                    <a:pt x="1157521" y="0"/>
                    <a:pt x="1174619" y="17098"/>
                    <a:pt x="1174619" y="38190"/>
                  </a:cubicBezTo>
                  <a:lnTo>
                    <a:pt x="1174619" y="568426"/>
                  </a:lnTo>
                  <a:cubicBezTo>
                    <a:pt x="1174619" y="589518"/>
                    <a:pt x="1157521" y="606616"/>
                    <a:pt x="1136429" y="606616"/>
                  </a:cubicBezTo>
                  <a:lnTo>
                    <a:pt x="38190" y="606616"/>
                  </a:lnTo>
                  <a:cubicBezTo>
                    <a:pt x="17098" y="606616"/>
                    <a:pt x="0" y="589518"/>
                    <a:pt x="0" y="568426"/>
                  </a:cubicBezTo>
                  <a:lnTo>
                    <a:pt x="0" y="38190"/>
                  </a:lnTo>
                  <a:cubicBezTo>
                    <a:pt x="0" y="17098"/>
                    <a:pt x="17098" y="0"/>
                    <a:pt x="38190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174619" cy="616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5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913719" y="7728174"/>
            <a:ext cx="4231281" cy="153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Sonuç</a:t>
            </a:r>
          </a:p>
          <a:p>
            <a:pPr algn="l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l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✔ Daha az feature ile benzer performans</a:t>
            </a:r>
          </a:p>
          <a:p>
            <a:pPr algn="l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✔ Model daha hızlı ve sade</a:t>
            </a:r>
          </a:p>
          <a:p>
            <a:pPr algn="l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✔ Gereksiz değişkenler elendi</a:t>
            </a:r>
          </a:p>
          <a:p>
            <a:pPr algn="l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044577" y="7018528"/>
            <a:ext cx="463928" cy="46392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206848" y="7011505"/>
            <a:ext cx="158435" cy="4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389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477362" y="7006500"/>
            <a:ext cx="463928" cy="46392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639633" y="6999478"/>
            <a:ext cx="158435" cy="4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389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308428" y="6994473"/>
            <a:ext cx="463928" cy="46392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2C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470699" y="6987450"/>
            <a:ext cx="158435" cy="4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389">
                <a:solidFill>
                  <a:srgbClr val="F8F9F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3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810" y="1707026"/>
            <a:ext cx="7310893" cy="4924901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26217" y="4611800"/>
            <a:ext cx="3818360" cy="103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Genel olarak</a:t>
            </a:r>
          </a:p>
          <a:p>
            <a:pPr algn="ctr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✔ Boosting modeller daha başarılı</a:t>
            </a:r>
          </a:p>
          <a:p>
            <a:pPr algn="ctr">
              <a:lnSpc>
                <a:spcPts val="1989"/>
              </a:lnSpc>
            </a:pPr>
            <a:r>
              <a:rPr lang="en-US" sz="1760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✔ Model stabil ve genellenebilir</a:t>
            </a:r>
          </a:p>
          <a:p>
            <a:pPr algn="ctr">
              <a:lnSpc>
                <a:spcPts val="1989"/>
              </a:lnSpc>
            </a:pPr>
            <a:endParaRPr lang="en-US" sz="1760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895938" y="2954875"/>
            <a:ext cx="13378446" cy="4285852"/>
            <a:chOff x="0" y="0"/>
            <a:chExt cx="17837928" cy="571447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631057"/>
              <a:ext cx="17837928" cy="5083413"/>
              <a:chOff x="0" y="0"/>
              <a:chExt cx="2641833" cy="75286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641833" cy="752864"/>
              </a:xfrm>
              <a:custGeom>
                <a:avLst/>
                <a:gdLst/>
                <a:ahLst/>
                <a:cxnLst/>
                <a:rect l="l" t="t" r="r" b="b"/>
                <a:pathLst>
                  <a:path w="2641833" h="752864">
                    <a:moveTo>
                      <a:pt x="16980" y="0"/>
                    </a:moveTo>
                    <a:lnTo>
                      <a:pt x="2624853" y="0"/>
                    </a:lnTo>
                    <a:cubicBezTo>
                      <a:pt x="2629356" y="0"/>
                      <a:pt x="2633675" y="1789"/>
                      <a:pt x="2636859" y="4973"/>
                    </a:cubicBezTo>
                    <a:cubicBezTo>
                      <a:pt x="2640044" y="8158"/>
                      <a:pt x="2641833" y="12477"/>
                      <a:pt x="2641833" y="16980"/>
                    </a:cubicBezTo>
                    <a:lnTo>
                      <a:pt x="2641833" y="735884"/>
                    </a:lnTo>
                    <a:cubicBezTo>
                      <a:pt x="2641833" y="740387"/>
                      <a:pt x="2640044" y="744706"/>
                      <a:pt x="2636859" y="747890"/>
                    </a:cubicBezTo>
                    <a:cubicBezTo>
                      <a:pt x="2633675" y="751075"/>
                      <a:pt x="2629356" y="752864"/>
                      <a:pt x="2624853" y="752864"/>
                    </a:cubicBezTo>
                    <a:lnTo>
                      <a:pt x="16980" y="752864"/>
                    </a:lnTo>
                    <a:cubicBezTo>
                      <a:pt x="12477" y="752864"/>
                      <a:pt x="8158" y="751075"/>
                      <a:pt x="4973" y="747890"/>
                    </a:cubicBezTo>
                    <a:cubicBezTo>
                      <a:pt x="1789" y="744706"/>
                      <a:pt x="0" y="740387"/>
                      <a:pt x="0" y="735884"/>
                    </a:cubicBezTo>
                    <a:lnTo>
                      <a:pt x="0" y="16980"/>
                    </a:lnTo>
                    <a:cubicBezTo>
                      <a:pt x="0" y="12477"/>
                      <a:pt x="1789" y="8158"/>
                      <a:pt x="4973" y="4973"/>
                    </a:cubicBezTo>
                    <a:cubicBezTo>
                      <a:pt x="8158" y="1789"/>
                      <a:pt x="12477" y="0"/>
                      <a:pt x="16980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2641833" cy="7623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5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591175" y="1113154"/>
              <a:ext cx="17246754" cy="4062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35"/>
                </a:lnSpc>
              </a:pPr>
              <a:endParaRPr/>
            </a:p>
            <a:p>
              <a:pPr algn="just">
                <a:lnSpc>
                  <a:spcPts val="3935"/>
                </a:lnSpc>
              </a:pPr>
              <a:endParaRPr/>
            </a:p>
            <a:p>
              <a:pPr algn="ctr">
                <a:lnSpc>
                  <a:spcPts val="3935"/>
                </a:lnSpc>
              </a:pPr>
              <a:r>
                <a:rPr lang="en-US" sz="3482">
                  <a:solidFill>
                    <a:srgbClr val="231F2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Bu bölümde, her ürün için optimize edilmiş model en önemli özelliklerle birlikte yeniden eğitilmiş ve kaydedilmiştir.</a:t>
              </a:r>
            </a:p>
            <a:p>
              <a:pPr algn="ctr">
                <a:lnSpc>
                  <a:spcPts val="3935"/>
                </a:lnSpc>
              </a:pPr>
              <a:endParaRPr lang="en-US" sz="3482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  <a:p>
              <a:pPr algn="ctr">
                <a:lnSpc>
                  <a:spcPts val="3935"/>
                </a:lnSpc>
              </a:pPr>
              <a:endParaRPr lang="en-US" sz="3482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4566" y="0"/>
              <a:ext cx="9010778" cy="1603306"/>
              <a:chOff x="0" y="0"/>
              <a:chExt cx="1334514" cy="23745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34514" cy="237453"/>
              </a:xfrm>
              <a:custGeom>
                <a:avLst/>
                <a:gdLst/>
                <a:ahLst/>
                <a:cxnLst/>
                <a:rect l="l" t="t" r="r" b="b"/>
                <a:pathLst>
                  <a:path w="1334514" h="237453">
                    <a:moveTo>
                      <a:pt x="77924" y="0"/>
                    </a:moveTo>
                    <a:lnTo>
                      <a:pt x="1256591" y="0"/>
                    </a:lnTo>
                    <a:cubicBezTo>
                      <a:pt x="1299627" y="0"/>
                      <a:pt x="1334514" y="34888"/>
                      <a:pt x="1334514" y="77924"/>
                    </a:cubicBezTo>
                    <a:lnTo>
                      <a:pt x="1334514" y="159529"/>
                    </a:lnTo>
                    <a:cubicBezTo>
                      <a:pt x="1334514" y="202565"/>
                      <a:pt x="1299627" y="237453"/>
                      <a:pt x="1256591" y="237453"/>
                    </a:cubicBezTo>
                    <a:lnTo>
                      <a:pt x="77924" y="237453"/>
                    </a:lnTo>
                    <a:cubicBezTo>
                      <a:pt x="34888" y="237453"/>
                      <a:pt x="0" y="202565"/>
                      <a:pt x="0" y="159529"/>
                    </a:cubicBezTo>
                    <a:lnTo>
                      <a:pt x="0" y="77924"/>
                    </a:lnTo>
                    <a:cubicBezTo>
                      <a:pt x="0" y="34888"/>
                      <a:pt x="34888" y="0"/>
                      <a:pt x="77924" y="0"/>
                    </a:cubicBezTo>
                    <a:close/>
                  </a:path>
                </a:pathLst>
              </a:custGeom>
              <a:solidFill>
                <a:srgbClr val="2C2C2C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34514" cy="2850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22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577210" y="314357"/>
              <a:ext cx="8528134" cy="1538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552"/>
                </a:lnSpc>
              </a:pPr>
              <a:r>
                <a:rPr lang="en-US" sz="3251">
                  <a:solidFill>
                    <a:srgbClr val="F9FAF8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Final Model Eğitimi ve Kaydetme</a:t>
              </a:r>
            </a:p>
            <a:p>
              <a:pPr algn="just">
                <a:lnSpc>
                  <a:spcPts val="4552"/>
                </a:lnSpc>
                <a:spcBef>
                  <a:spcPct val="0"/>
                </a:spcBef>
              </a:pPr>
              <a:endParaRPr lang="en-US" sz="3251">
                <a:solidFill>
                  <a:srgbClr val="F9FAF8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5424" y="2103417"/>
            <a:ext cx="1893342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63124">
            <a:off x="3879969" y="5517647"/>
            <a:ext cx="626797" cy="607424"/>
          </a:xfrm>
          <a:custGeom>
            <a:avLst/>
            <a:gdLst/>
            <a:ahLst/>
            <a:cxnLst/>
            <a:rect l="l" t="t" r="r" b="b"/>
            <a:pathLst>
              <a:path w="626797" h="607424">
                <a:moveTo>
                  <a:pt x="0" y="0"/>
                </a:moveTo>
                <a:lnTo>
                  <a:pt x="626797" y="0"/>
                </a:lnTo>
                <a:lnTo>
                  <a:pt x="626797" y="607423"/>
                </a:lnTo>
                <a:lnTo>
                  <a:pt x="0" y="607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12290" y="5264294"/>
            <a:ext cx="10097078" cy="122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9"/>
              </a:lnSpc>
            </a:pPr>
            <a:r>
              <a:rPr lang="en-US" sz="6435" i="1">
                <a:solidFill>
                  <a:srgbClr val="231F2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Beni dinlediğiniz için teşekkürler.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12702" y="1386564"/>
            <a:ext cx="898654" cy="101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</a:pPr>
            <a:r>
              <a:rPr lang="en-US" sz="2744">
                <a:solidFill>
                  <a:srgbClr val="231F2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2026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endParaRPr lang="en-US" sz="2744">
              <a:solidFill>
                <a:srgbClr val="231F2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07059" y="1451778"/>
            <a:ext cx="9510511" cy="500006"/>
            <a:chOff x="0" y="0"/>
            <a:chExt cx="12680682" cy="6666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5239" cy="666675"/>
            </a:xfrm>
            <a:custGeom>
              <a:avLst/>
              <a:gdLst/>
              <a:ahLst/>
              <a:cxnLst/>
              <a:rect l="l" t="t" r="r" b="b"/>
              <a:pathLst>
                <a:path w="1335239" h="666675">
                  <a:moveTo>
                    <a:pt x="0" y="0"/>
                  </a:moveTo>
                  <a:lnTo>
                    <a:pt x="1335239" y="0"/>
                  </a:lnTo>
                  <a:lnTo>
                    <a:pt x="1335239" y="666675"/>
                  </a:lnTo>
                  <a:lnTo>
                    <a:pt x="0" y="66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979283" y="155114"/>
              <a:ext cx="11701399" cy="51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34"/>
                </a:lnSpc>
                <a:spcBef>
                  <a:spcPct val="0"/>
                </a:spcBef>
              </a:pPr>
              <a:r>
                <a:rPr lang="en-US" sz="2238" i="1" spc="152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Necmettin Erbakan Üniversitesi - Mühendislik Fakültesi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1002</Words>
  <Application>Microsoft Office PowerPoint</Application>
  <PresentationFormat>Custom</PresentationFormat>
  <Paragraphs>246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Times New Roman MT Condensed Italics</vt:lpstr>
      <vt:lpstr>Times New Roman MT Condensed</vt:lpstr>
      <vt:lpstr>Calibri</vt:lpstr>
      <vt:lpstr>Times New Roman MT Condensed Bold</vt:lpstr>
      <vt:lpstr>Arial</vt:lpstr>
      <vt:lpstr>Poppins Italics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</dc:title>
  <cp:lastModifiedBy>Cansu Değer</cp:lastModifiedBy>
  <cp:revision>2</cp:revision>
  <dcterms:created xsi:type="dcterms:W3CDTF">2006-08-16T00:00:00Z</dcterms:created>
  <dcterms:modified xsi:type="dcterms:W3CDTF">2026-04-03T05:02:05Z</dcterms:modified>
  <dc:identifier>DAHFsXE6_OE</dc:identifier>
</cp:coreProperties>
</file>